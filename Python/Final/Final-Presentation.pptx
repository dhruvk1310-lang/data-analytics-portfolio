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5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8"/>
  </p:normalViewPr>
  <p:slideViewPr>
    <p:cSldViewPr snapToGrid="0">
      <p:cViewPr varScale="1">
        <p:scale>
          <a:sx n="93" d="100"/>
          <a:sy n="93" d="100"/>
        </p:scale>
        <p:origin x="21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2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2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CC8CDD-E32A-4057-BE74-201A853269D3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017538C-5837-403F-9DB3-AA28C883EDF9}">
      <dgm:prSet/>
      <dgm:spPr/>
      <dgm:t>
        <a:bodyPr/>
        <a:lstStyle/>
        <a:p>
          <a:r>
            <a:rPr lang="en-US" dirty="0">
              <a:latin typeface="Helvetica" pitchFamily="2" charset="0"/>
            </a:rPr>
            <a:t>The dataset comprises </a:t>
          </a:r>
          <a:r>
            <a:rPr lang="en-US" b="1" dirty="0">
              <a:latin typeface="Helvetica" pitchFamily="2" charset="0"/>
            </a:rPr>
            <a:t>700 rows and 16 columns</a:t>
          </a:r>
          <a:r>
            <a:rPr lang="en-US" dirty="0">
              <a:latin typeface="Helvetica" pitchFamily="2" charset="0"/>
            </a:rPr>
            <a:t>, detailing sales and financial performance across various segments, countries, and products. </a:t>
          </a:r>
        </a:p>
      </dgm:t>
    </dgm:pt>
    <dgm:pt modelId="{0274B0B4-9D0F-436E-BA9E-1FF14995300B}" type="parTrans" cxnId="{C386D3AA-839E-472C-8525-44751E35FBE8}">
      <dgm:prSet/>
      <dgm:spPr/>
      <dgm:t>
        <a:bodyPr/>
        <a:lstStyle/>
        <a:p>
          <a:endParaRPr lang="en-US"/>
        </a:p>
      </dgm:t>
    </dgm:pt>
    <dgm:pt modelId="{7D63BB1B-DD76-4251-9F5C-90782DA95824}" type="sibTrans" cxnId="{C386D3AA-839E-472C-8525-44751E35FBE8}">
      <dgm:prSet/>
      <dgm:spPr/>
      <dgm:t>
        <a:bodyPr/>
        <a:lstStyle/>
        <a:p>
          <a:endParaRPr lang="en-US"/>
        </a:p>
      </dgm:t>
    </dgm:pt>
    <dgm:pt modelId="{860D2309-FF82-475D-8D29-D68F05C73774}">
      <dgm:prSet/>
      <dgm:spPr/>
      <dgm:t>
        <a:bodyPr/>
        <a:lstStyle/>
        <a:p>
          <a:r>
            <a:rPr lang="en-US" dirty="0">
              <a:latin typeface="Helvetica" pitchFamily="2" charset="0"/>
            </a:rPr>
            <a:t>Key metrics include </a:t>
          </a:r>
          <a:r>
            <a:rPr lang="en-US" b="1" dirty="0">
              <a:latin typeface="Helvetica" pitchFamily="2" charset="0"/>
            </a:rPr>
            <a:t>Units Sold, Sales, Profit, and Discounts, alongside categorical variables like Segment, Country, and Discount Band</a:t>
          </a:r>
          <a:r>
            <a:rPr lang="en-US" dirty="0">
              <a:latin typeface="Helvetica" pitchFamily="2" charset="0"/>
            </a:rPr>
            <a:t>. </a:t>
          </a:r>
        </a:p>
      </dgm:t>
    </dgm:pt>
    <dgm:pt modelId="{7AACA85A-A058-4D50-B60B-CE8696ED3BC4}" type="parTrans" cxnId="{9A40FDE0-3BC2-46F5-947E-D6DA93DD609D}">
      <dgm:prSet/>
      <dgm:spPr/>
      <dgm:t>
        <a:bodyPr/>
        <a:lstStyle/>
        <a:p>
          <a:endParaRPr lang="en-US"/>
        </a:p>
      </dgm:t>
    </dgm:pt>
    <dgm:pt modelId="{0725AA55-4545-4574-9CCD-B0FFB26F4586}" type="sibTrans" cxnId="{9A40FDE0-3BC2-46F5-947E-D6DA93DD609D}">
      <dgm:prSet/>
      <dgm:spPr/>
      <dgm:t>
        <a:bodyPr/>
        <a:lstStyle/>
        <a:p>
          <a:endParaRPr lang="en-US"/>
        </a:p>
      </dgm:t>
    </dgm:pt>
    <dgm:pt modelId="{7EBFB032-C345-48CF-931F-0B88A3E3FACB}">
      <dgm:prSet/>
      <dgm:spPr/>
      <dgm:t>
        <a:bodyPr/>
        <a:lstStyle/>
        <a:p>
          <a:r>
            <a:rPr lang="en-US" dirty="0">
              <a:latin typeface="Helvetica" pitchFamily="2" charset="0"/>
            </a:rPr>
            <a:t>However, critical numeric columns, such as Sales and Profit, have significant missing data, which may limit insights. </a:t>
          </a:r>
        </a:p>
      </dgm:t>
    </dgm:pt>
    <dgm:pt modelId="{E07D8282-E237-4284-9C3F-C60BE82674A0}" type="parTrans" cxnId="{0023B010-1BC6-474F-B043-F62DCDC25291}">
      <dgm:prSet/>
      <dgm:spPr/>
      <dgm:t>
        <a:bodyPr/>
        <a:lstStyle/>
        <a:p>
          <a:endParaRPr lang="en-US"/>
        </a:p>
      </dgm:t>
    </dgm:pt>
    <dgm:pt modelId="{47B0EF31-FEFA-476D-95F7-FA4AF69DE796}" type="sibTrans" cxnId="{0023B010-1BC6-474F-B043-F62DCDC25291}">
      <dgm:prSet/>
      <dgm:spPr/>
      <dgm:t>
        <a:bodyPr/>
        <a:lstStyle/>
        <a:p>
          <a:endParaRPr lang="en-US"/>
        </a:p>
      </dgm:t>
    </dgm:pt>
    <dgm:pt modelId="{54E7EB4D-52FF-4ECD-BDFB-9D5A3BEDF779}">
      <dgm:prSet/>
      <dgm:spPr/>
      <dgm:t>
        <a:bodyPr/>
        <a:lstStyle/>
        <a:p>
          <a:r>
            <a:rPr lang="en-US" dirty="0">
              <a:latin typeface="Helvetica" pitchFamily="2" charset="0"/>
            </a:rPr>
            <a:t>The dataset provides a foundation for analyzing trends, profitability, and regional performance, but addressing missing data will be crucial for meaningful analysis. This data can help identify high-performing segments and inform strategic decisions.</a:t>
          </a:r>
        </a:p>
      </dgm:t>
    </dgm:pt>
    <dgm:pt modelId="{32339FFB-382A-4D65-855F-DE76FD5E888C}" type="parTrans" cxnId="{6E3567E1-9D00-4802-9A7F-7180A5B3ABE3}">
      <dgm:prSet/>
      <dgm:spPr/>
      <dgm:t>
        <a:bodyPr/>
        <a:lstStyle/>
        <a:p>
          <a:endParaRPr lang="en-US"/>
        </a:p>
      </dgm:t>
    </dgm:pt>
    <dgm:pt modelId="{4FA5BEDC-88F9-40AC-BE29-907BFAB163CD}" type="sibTrans" cxnId="{6E3567E1-9D00-4802-9A7F-7180A5B3ABE3}">
      <dgm:prSet/>
      <dgm:spPr/>
      <dgm:t>
        <a:bodyPr/>
        <a:lstStyle/>
        <a:p>
          <a:endParaRPr lang="en-US"/>
        </a:p>
      </dgm:t>
    </dgm:pt>
    <dgm:pt modelId="{4B56615E-4670-E84E-B5CD-359C7CF29960}" type="pres">
      <dgm:prSet presAssocID="{D8CC8CDD-E32A-4057-BE74-201A853269D3}" presName="vert0" presStyleCnt="0">
        <dgm:presLayoutVars>
          <dgm:dir/>
          <dgm:animOne val="branch"/>
          <dgm:animLvl val="lvl"/>
        </dgm:presLayoutVars>
      </dgm:prSet>
      <dgm:spPr/>
    </dgm:pt>
    <dgm:pt modelId="{B2C913EF-F003-2445-8D0A-FA43EE6E2218}" type="pres">
      <dgm:prSet presAssocID="{B017538C-5837-403F-9DB3-AA28C883EDF9}" presName="thickLine" presStyleLbl="alignNode1" presStyleIdx="0" presStyleCnt="4"/>
      <dgm:spPr/>
    </dgm:pt>
    <dgm:pt modelId="{8116C121-2EC9-F246-B73F-5989365A5C1F}" type="pres">
      <dgm:prSet presAssocID="{B017538C-5837-403F-9DB3-AA28C883EDF9}" presName="horz1" presStyleCnt="0"/>
      <dgm:spPr/>
    </dgm:pt>
    <dgm:pt modelId="{9CCC897C-7787-314C-98C6-8AE1B0369D00}" type="pres">
      <dgm:prSet presAssocID="{B017538C-5837-403F-9DB3-AA28C883EDF9}" presName="tx1" presStyleLbl="revTx" presStyleIdx="0" presStyleCnt="4"/>
      <dgm:spPr/>
    </dgm:pt>
    <dgm:pt modelId="{1C39965D-20B7-A144-9850-EC8541C13644}" type="pres">
      <dgm:prSet presAssocID="{B017538C-5837-403F-9DB3-AA28C883EDF9}" presName="vert1" presStyleCnt="0"/>
      <dgm:spPr/>
    </dgm:pt>
    <dgm:pt modelId="{38AEA5DE-A053-8E4D-9D39-00E20A91DAA8}" type="pres">
      <dgm:prSet presAssocID="{860D2309-FF82-475D-8D29-D68F05C73774}" presName="thickLine" presStyleLbl="alignNode1" presStyleIdx="1" presStyleCnt="4"/>
      <dgm:spPr/>
    </dgm:pt>
    <dgm:pt modelId="{393A7204-867F-B04F-90F1-87BD9B7D6751}" type="pres">
      <dgm:prSet presAssocID="{860D2309-FF82-475D-8D29-D68F05C73774}" presName="horz1" presStyleCnt="0"/>
      <dgm:spPr/>
    </dgm:pt>
    <dgm:pt modelId="{4A48D4E7-A97E-6D49-A2EB-39C716F31B47}" type="pres">
      <dgm:prSet presAssocID="{860D2309-FF82-475D-8D29-D68F05C73774}" presName="tx1" presStyleLbl="revTx" presStyleIdx="1" presStyleCnt="4"/>
      <dgm:spPr/>
    </dgm:pt>
    <dgm:pt modelId="{76D0CCD9-A401-A44B-A9DD-DC726FF0A19F}" type="pres">
      <dgm:prSet presAssocID="{860D2309-FF82-475D-8D29-D68F05C73774}" presName="vert1" presStyleCnt="0"/>
      <dgm:spPr/>
    </dgm:pt>
    <dgm:pt modelId="{4485A606-4E18-EE4B-8894-991B8EF3E7B4}" type="pres">
      <dgm:prSet presAssocID="{7EBFB032-C345-48CF-931F-0B88A3E3FACB}" presName="thickLine" presStyleLbl="alignNode1" presStyleIdx="2" presStyleCnt="4"/>
      <dgm:spPr/>
    </dgm:pt>
    <dgm:pt modelId="{47FE4767-3D91-E74B-8DAF-58AEB0DE05AA}" type="pres">
      <dgm:prSet presAssocID="{7EBFB032-C345-48CF-931F-0B88A3E3FACB}" presName="horz1" presStyleCnt="0"/>
      <dgm:spPr/>
    </dgm:pt>
    <dgm:pt modelId="{BABAE3AE-AE41-5545-B058-E20CD978F1A2}" type="pres">
      <dgm:prSet presAssocID="{7EBFB032-C345-48CF-931F-0B88A3E3FACB}" presName="tx1" presStyleLbl="revTx" presStyleIdx="2" presStyleCnt="4"/>
      <dgm:spPr/>
    </dgm:pt>
    <dgm:pt modelId="{87006499-0CDC-2847-826D-D3D66D309D9A}" type="pres">
      <dgm:prSet presAssocID="{7EBFB032-C345-48CF-931F-0B88A3E3FACB}" presName="vert1" presStyleCnt="0"/>
      <dgm:spPr/>
    </dgm:pt>
    <dgm:pt modelId="{B73E3DF6-39B8-5F4D-9D62-E3DCB363036B}" type="pres">
      <dgm:prSet presAssocID="{54E7EB4D-52FF-4ECD-BDFB-9D5A3BEDF779}" presName="thickLine" presStyleLbl="alignNode1" presStyleIdx="3" presStyleCnt="4"/>
      <dgm:spPr/>
    </dgm:pt>
    <dgm:pt modelId="{D4259C45-B242-374C-89D3-E8455781BB4A}" type="pres">
      <dgm:prSet presAssocID="{54E7EB4D-52FF-4ECD-BDFB-9D5A3BEDF779}" presName="horz1" presStyleCnt="0"/>
      <dgm:spPr/>
    </dgm:pt>
    <dgm:pt modelId="{95500DC1-80AB-7D48-9F28-EC6B98B274C3}" type="pres">
      <dgm:prSet presAssocID="{54E7EB4D-52FF-4ECD-BDFB-9D5A3BEDF779}" presName="tx1" presStyleLbl="revTx" presStyleIdx="3" presStyleCnt="4"/>
      <dgm:spPr/>
    </dgm:pt>
    <dgm:pt modelId="{F52159E1-A2D6-3B41-A5E2-CDF7D20C3DC2}" type="pres">
      <dgm:prSet presAssocID="{54E7EB4D-52FF-4ECD-BDFB-9D5A3BEDF779}" presName="vert1" presStyleCnt="0"/>
      <dgm:spPr/>
    </dgm:pt>
  </dgm:ptLst>
  <dgm:cxnLst>
    <dgm:cxn modelId="{0023B010-1BC6-474F-B043-F62DCDC25291}" srcId="{D8CC8CDD-E32A-4057-BE74-201A853269D3}" destId="{7EBFB032-C345-48CF-931F-0B88A3E3FACB}" srcOrd="2" destOrd="0" parTransId="{E07D8282-E237-4284-9C3F-C60BE82674A0}" sibTransId="{47B0EF31-FEFA-476D-95F7-FA4AF69DE796}"/>
    <dgm:cxn modelId="{E8C3971F-8570-1040-B625-C9E0F40EE1BA}" type="presOf" srcId="{B017538C-5837-403F-9DB3-AA28C883EDF9}" destId="{9CCC897C-7787-314C-98C6-8AE1B0369D00}" srcOrd="0" destOrd="0" presId="urn:microsoft.com/office/officeart/2008/layout/LinedList"/>
    <dgm:cxn modelId="{3D604A50-EF5C-3C41-B352-2484373E589F}" type="presOf" srcId="{860D2309-FF82-475D-8D29-D68F05C73774}" destId="{4A48D4E7-A97E-6D49-A2EB-39C716F31B47}" srcOrd="0" destOrd="0" presId="urn:microsoft.com/office/officeart/2008/layout/LinedList"/>
    <dgm:cxn modelId="{6DA88A51-FE8A-3643-B395-20DCFF9B71C3}" type="presOf" srcId="{D8CC8CDD-E32A-4057-BE74-201A853269D3}" destId="{4B56615E-4670-E84E-B5CD-359C7CF29960}" srcOrd="0" destOrd="0" presId="urn:microsoft.com/office/officeart/2008/layout/LinedList"/>
    <dgm:cxn modelId="{90AA1E79-83A5-AF4E-B0BC-29D478E97A58}" type="presOf" srcId="{7EBFB032-C345-48CF-931F-0B88A3E3FACB}" destId="{BABAE3AE-AE41-5545-B058-E20CD978F1A2}" srcOrd="0" destOrd="0" presId="urn:microsoft.com/office/officeart/2008/layout/LinedList"/>
    <dgm:cxn modelId="{C386D3AA-839E-472C-8525-44751E35FBE8}" srcId="{D8CC8CDD-E32A-4057-BE74-201A853269D3}" destId="{B017538C-5837-403F-9DB3-AA28C883EDF9}" srcOrd="0" destOrd="0" parTransId="{0274B0B4-9D0F-436E-BA9E-1FF14995300B}" sibTransId="{7D63BB1B-DD76-4251-9F5C-90782DA95824}"/>
    <dgm:cxn modelId="{DD8271DD-3F20-5C44-A809-CD1FB7F27FD3}" type="presOf" srcId="{54E7EB4D-52FF-4ECD-BDFB-9D5A3BEDF779}" destId="{95500DC1-80AB-7D48-9F28-EC6B98B274C3}" srcOrd="0" destOrd="0" presId="urn:microsoft.com/office/officeart/2008/layout/LinedList"/>
    <dgm:cxn modelId="{9A40FDE0-3BC2-46F5-947E-D6DA93DD609D}" srcId="{D8CC8CDD-E32A-4057-BE74-201A853269D3}" destId="{860D2309-FF82-475D-8D29-D68F05C73774}" srcOrd="1" destOrd="0" parTransId="{7AACA85A-A058-4D50-B60B-CE8696ED3BC4}" sibTransId="{0725AA55-4545-4574-9CCD-B0FFB26F4586}"/>
    <dgm:cxn modelId="{6E3567E1-9D00-4802-9A7F-7180A5B3ABE3}" srcId="{D8CC8CDD-E32A-4057-BE74-201A853269D3}" destId="{54E7EB4D-52FF-4ECD-BDFB-9D5A3BEDF779}" srcOrd="3" destOrd="0" parTransId="{32339FFB-382A-4D65-855F-DE76FD5E888C}" sibTransId="{4FA5BEDC-88F9-40AC-BE29-907BFAB163CD}"/>
    <dgm:cxn modelId="{45F0A2DF-671F-6248-A11C-E749B19E31BC}" type="presParOf" srcId="{4B56615E-4670-E84E-B5CD-359C7CF29960}" destId="{B2C913EF-F003-2445-8D0A-FA43EE6E2218}" srcOrd="0" destOrd="0" presId="urn:microsoft.com/office/officeart/2008/layout/LinedList"/>
    <dgm:cxn modelId="{161D08D6-06E5-9D43-A59F-5E666043D44A}" type="presParOf" srcId="{4B56615E-4670-E84E-B5CD-359C7CF29960}" destId="{8116C121-2EC9-F246-B73F-5989365A5C1F}" srcOrd="1" destOrd="0" presId="urn:microsoft.com/office/officeart/2008/layout/LinedList"/>
    <dgm:cxn modelId="{DB56EB65-22FB-9743-8F21-DB2304A7F176}" type="presParOf" srcId="{8116C121-2EC9-F246-B73F-5989365A5C1F}" destId="{9CCC897C-7787-314C-98C6-8AE1B0369D00}" srcOrd="0" destOrd="0" presId="urn:microsoft.com/office/officeart/2008/layout/LinedList"/>
    <dgm:cxn modelId="{EC5DDAF8-C86F-964F-93FF-0DACB55D64BC}" type="presParOf" srcId="{8116C121-2EC9-F246-B73F-5989365A5C1F}" destId="{1C39965D-20B7-A144-9850-EC8541C13644}" srcOrd="1" destOrd="0" presId="urn:microsoft.com/office/officeart/2008/layout/LinedList"/>
    <dgm:cxn modelId="{D5C1A554-3998-CD4E-847B-4906A8B85F4C}" type="presParOf" srcId="{4B56615E-4670-E84E-B5CD-359C7CF29960}" destId="{38AEA5DE-A053-8E4D-9D39-00E20A91DAA8}" srcOrd="2" destOrd="0" presId="urn:microsoft.com/office/officeart/2008/layout/LinedList"/>
    <dgm:cxn modelId="{43CAA20D-1CC4-8440-8368-F84FE93A0170}" type="presParOf" srcId="{4B56615E-4670-E84E-B5CD-359C7CF29960}" destId="{393A7204-867F-B04F-90F1-87BD9B7D6751}" srcOrd="3" destOrd="0" presId="urn:microsoft.com/office/officeart/2008/layout/LinedList"/>
    <dgm:cxn modelId="{FA911C67-DE67-734E-BBD8-40AFDF6840C8}" type="presParOf" srcId="{393A7204-867F-B04F-90F1-87BD9B7D6751}" destId="{4A48D4E7-A97E-6D49-A2EB-39C716F31B47}" srcOrd="0" destOrd="0" presId="urn:microsoft.com/office/officeart/2008/layout/LinedList"/>
    <dgm:cxn modelId="{3154205B-ABA8-534D-B8D7-5236B171C842}" type="presParOf" srcId="{393A7204-867F-B04F-90F1-87BD9B7D6751}" destId="{76D0CCD9-A401-A44B-A9DD-DC726FF0A19F}" srcOrd="1" destOrd="0" presId="urn:microsoft.com/office/officeart/2008/layout/LinedList"/>
    <dgm:cxn modelId="{701316A6-BD57-534B-8A52-E069D0F6ED22}" type="presParOf" srcId="{4B56615E-4670-E84E-B5CD-359C7CF29960}" destId="{4485A606-4E18-EE4B-8894-991B8EF3E7B4}" srcOrd="4" destOrd="0" presId="urn:microsoft.com/office/officeart/2008/layout/LinedList"/>
    <dgm:cxn modelId="{905CC20D-C441-F24D-9A42-5CE373859D5E}" type="presParOf" srcId="{4B56615E-4670-E84E-B5CD-359C7CF29960}" destId="{47FE4767-3D91-E74B-8DAF-58AEB0DE05AA}" srcOrd="5" destOrd="0" presId="urn:microsoft.com/office/officeart/2008/layout/LinedList"/>
    <dgm:cxn modelId="{BF7FAC5E-0B25-B041-BFEA-063A941B6354}" type="presParOf" srcId="{47FE4767-3D91-E74B-8DAF-58AEB0DE05AA}" destId="{BABAE3AE-AE41-5545-B058-E20CD978F1A2}" srcOrd="0" destOrd="0" presId="urn:microsoft.com/office/officeart/2008/layout/LinedList"/>
    <dgm:cxn modelId="{1675B8F0-0470-824B-9D00-7480D248FEBF}" type="presParOf" srcId="{47FE4767-3D91-E74B-8DAF-58AEB0DE05AA}" destId="{87006499-0CDC-2847-826D-D3D66D309D9A}" srcOrd="1" destOrd="0" presId="urn:microsoft.com/office/officeart/2008/layout/LinedList"/>
    <dgm:cxn modelId="{459CD574-6DEC-BF43-835D-EE80C693B241}" type="presParOf" srcId="{4B56615E-4670-E84E-B5CD-359C7CF29960}" destId="{B73E3DF6-39B8-5F4D-9D62-E3DCB363036B}" srcOrd="6" destOrd="0" presId="urn:microsoft.com/office/officeart/2008/layout/LinedList"/>
    <dgm:cxn modelId="{33BFF047-196F-1946-BCF8-84B692FAC291}" type="presParOf" srcId="{4B56615E-4670-E84E-B5CD-359C7CF29960}" destId="{D4259C45-B242-374C-89D3-E8455781BB4A}" srcOrd="7" destOrd="0" presId="urn:microsoft.com/office/officeart/2008/layout/LinedList"/>
    <dgm:cxn modelId="{BB3D03C1-8827-3E4A-9A8F-C8B9E5339885}" type="presParOf" srcId="{D4259C45-B242-374C-89D3-E8455781BB4A}" destId="{95500DC1-80AB-7D48-9F28-EC6B98B274C3}" srcOrd="0" destOrd="0" presId="urn:microsoft.com/office/officeart/2008/layout/LinedList"/>
    <dgm:cxn modelId="{469D3C77-E027-B94A-8219-E9DB3812E92C}" type="presParOf" srcId="{D4259C45-B242-374C-89D3-E8455781BB4A}" destId="{F52159E1-A2D6-3B41-A5E2-CDF7D20C3D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9ABD41-8A6B-4BB6-8C5F-FC8A427FF02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5C3C86D9-B2F9-415D-AF81-00E201DD40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are 66</a:t>
          </a:r>
          <a:r>
            <a:rPr lang="en-US" b="1" dirty="0"/>
            <a:t> outliers in the Profit column</a:t>
          </a:r>
          <a:r>
            <a:rPr lang="en-US" dirty="0"/>
            <a:t>, which need to be addressed to ensure accurate analysis.</a:t>
          </a:r>
        </a:p>
      </dgm:t>
    </dgm:pt>
    <dgm:pt modelId="{D9472738-D4DC-46E1-84D7-8554E768B507}" type="parTrans" cxnId="{C2844E46-2861-452E-9169-B06F5B355620}">
      <dgm:prSet/>
      <dgm:spPr/>
      <dgm:t>
        <a:bodyPr/>
        <a:lstStyle/>
        <a:p>
          <a:endParaRPr lang="en-US"/>
        </a:p>
      </dgm:t>
    </dgm:pt>
    <dgm:pt modelId="{C240E299-09EB-4A5C-A02D-F6E4BD6125E8}" type="sibTrans" cxnId="{C2844E46-2861-452E-9169-B06F5B355620}">
      <dgm:prSet/>
      <dgm:spPr/>
      <dgm:t>
        <a:bodyPr/>
        <a:lstStyle/>
        <a:p>
          <a:endParaRPr lang="en-US"/>
        </a:p>
      </dgm:t>
    </dgm:pt>
    <dgm:pt modelId="{41476BF2-2EDE-4DD5-8397-364C1C85E6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</a:t>
          </a:r>
          <a:r>
            <a:rPr lang="en-US" b="1" dirty="0"/>
            <a:t>Discounts column is stored as strings</a:t>
          </a:r>
          <a:r>
            <a:rPr lang="en-US" dirty="0"/>
            <a:t>, like $-, making it unusable for calculations without cleaning.</a:t>
          </a:r>
        </a:p>
      </dgm:t>
    </dgm:pt>
    <dgm:pt modelId="{01C2A4A3-3F15-4703-B154-14A650E2B5E7}" type="parTrans" cxnId="{E0887CD3-DD89-473D-BE17-86DB1950DD8B}">
      <dgm:prSet/>
      <dgm:spPr/>
      <dgm:t>
        <a:bodyPr/>
        <a:lstStyle/>
        <a:p>
          <a:endParaRPr lang="en-US"/>
        </a:p>
      </dgm:t>
    </dgm:pt>
    <dgm:pt modelId="{8A46C6C5-09CC-4828-A7F5-A5472068AEE0}" type="sibTrans" cxnId="{E0887CD3-DD89-473D-BE17-86DB1950DD8B}">
      <dgm:prSet/>
      <dgm:spPr/>
      <dgm:t>
        <a:bodyPr/>
        <a:lstStyle/>
        <a:p>
          <a:endParaRPr lang="en-US"/>
        </a:p>
      </dgm:t>
    </dgm:pt>
    <dgm:pt modelId="{851272EB-5C60-474B-A598-BD908B00AE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 noticed redundancy in the </a:t>
          </a:r>
          <a:r>
            <a:rPr lang="en-US" b="1" dirty="0"/>
            <a:t>Date, Month Number, and Month Name columns</a:t>
          </a:r>
          <a:r>
            <a:rPr lang="en-US" dirty="0"/>
            <a:t>, which need validation for consistency.</a:t>
          </a:r>
        </a:p>
      </dgm:t>
    </dgm:pt>
    <dgm:pt modelId="{69F3A14A-3519-4F6E-BF4D-488A5BBCE6C0}" type="parTrans" cxnId="{D684947E-96A0-4B85-8AAD-83DA8E6407D3}">
      <dgm:prSet/>
      <dgm:spPr/>
      <dgm:t>
        <a:bodyPr/>
        <a:lstStyle/>
        <a:p>
          <a:endParaRPr lang="en-US"/>
        </a:p>
      </dgm:t>
    </dgm:pt>
    <dgm:pt modelId="{03AA5249-2C19-411E-9F7E-3FCCAB66A9BC}" type="sibTrans" cxnId="{D684947E-96A0-4B85-8AAD-83DA8E6407D3}">
      <dgm:prSet/>
      <dgm:spPr/>
      <dgm:t>
        <a:bodyPr/>
        <a:lstStyle/>
        <a:p>
          <a:endParaRPr lang="en-US"/>
        </a:p>
      </dgm:t>
    </dgm:pt>
    <dgm:pt modelId="{40069E2C-3882-48EB-9E94-F39C4B49C9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are potential </a:t>
          </a:r>
          <a:r>
            <a:rPr lang="en-US" b="1" dirty="0"/>
            <a:t>outliers in Profit and Sales</a:t>
          </a:r>
          <a:r>
            <a:rPr lang="en-US" dirty="0"/>
            <a:t>, which need further investigation to prevent skewed results.</a:t>
          </a:r>
        </a:p>
      </dgm:t>
    </dgm:pt>
    <dgm:pt modelId="{6A3FD315-C3FD-42ED-9129-971A12ADEE0B}" type="parTrans" cxnId="{F37B34DE-122F-428B-AE40-0EE8D257F556}">
      <dgm:prSet/>
      <dgm:spPr/>
      <dgm:t>
        <a:bodyPr/>
        <a:lstStyle/>
        <a:p>
          <a:endParaRPr lang="en-US"/>
        </a:p>
      </dgm:t>
    </dgm:pt>
    <dgm:pt modelId="{605297E1-1BA1-4C34-94C5-E53C2451A69A}" type="sibTrans" cxnId="{F37B34DE-122F-428B-AE40-0EE8D257F556}">
      <dgm:prSet/>
      <dgm:spPr/>
      <dgm:t>
        <a:bodyPr/>
        <a:lstStyle/>
        <a:p>
          <a:endParaRPr lang="en-US"/>
        </a:p>
      </dgm:t>
    </dgm:pt>
    <dgm:pt modelId="{1C574E86-B461-43ED-BD37-35B00AE8969E}" type="pres">
      <dgm:prSet presAssocID="{389ABD41-8A6B-4BB6-8C5F-FC8A427FF02C}" presName="root" presStyleCnt="0">
        <dgm:presLayoutVars>
          <dgm:dir/>
          <dgm:resizeHandles val="exact"/>
        </dgm:presLayoutVars>
      </dgm:prSet>
      <dgm:spPr/>
    </dgm:pt>
    <dgm:pt modelId="{8AE052C3-1A0F-4FED-AD20-25EEC676FE21}" type="pres">
      <dgm:prSet presAssocID="{5C3C86D9-B2F9-415D-AF81-00E201DD4081}" presName="compNode" presStyleCnt="0"/>
      <dgm:spPr/>
    </dgm:pt>
    <dgm:pt modelId="{9BC76517-7F2C-43B6-ABAE-34145DA4DDB3}" type="pres">
      <dgm:prSet presAssocID="{5C3C86D9-B2F9-415D-AF81-00E201DD408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52EF4AB-DD2E-40AB-9DAC-515D4F8DF223}" type="pres">
      <dgm:prSet presAssocID="{5C3C86D9-B2F9-415D-AF81-00E201DD4081}" presName="spaceRect" presStyleCnt="0"/>
      <dgm:spPr/>
    </dgm:pt>
    <dgm:pt modelId="{5BD94D99-E938-4670-A4E8-91495F31013B}" type="pres">
      <dgm:prSet presAssocID="{5C3C86D9-B2F9-415D-AF81-00E201DD4081}" presName="textRect" presStyleLbl="revTx" presStyleIdx="0" presStyleCnt="4">
        <dgm:presLayoutVars>
          <dgm:chMax val="1"/>
          <dgm:chPref val="1"/>
        </dgm:presLayoutVars>
      </dgm:prSet>
      <dgm:spPr/>
    </dgm:pt>
    <dgm:pt modelId="{597C80F1-D25F-4E05-AD50-AC135FEEB3B5}" type="pres">
      <dgm:prSet presAssocID="{C240E299-09EB-4A5C-A02D-F6E4BD6125E8}" presName="sibTrans" presStyleCnt="0"/>
      <dgm:spPr/>
    </dgm:pt>
    <dgm:pt modelId="{36350553-3799-4E3E-B509-1E6570D5DD2B}" type="pres">
      <dgm:prSet presAssocID="{41476BF2-2EDE-4DD5-8397-364C1C85E68F}" presName="compNode" presStyleCnt="0"/>
      <dgm:spPr/>
    </dgm:pt>
    <dgm:pt modelId="{F6BE2B37-DC67-4A4A-B1E8-313800CD8734}" type="pres">
      <dgm:prSet presAssocID="{41476BF2-2EDE-4DD5-8397-364C1C85E68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7A5D4D07-6D2A-4CCB-A41D-C2067602F4CF}" type="pres">
      <dgm:prSet presAssocID="{41476BF2-2EDE-4DD5-8397-364C1C85E68F}" presName="spaceRect" presStyleCnt="0"/>
      <dgm:spPr/>
    </dgm:pt>
    <dgm:pt modelId="{181B647C-BF6B-46D6-A2C7-4F83AD6974F1}" type="pres">
      <dgm:prSet presAssocID="{41476BF2-2EDE-4DD5-8397-364C1C85E68F}" presName="textRect" presStyleLbl="revTx" presStyleIdx="1" presStyleCnt="4">
        <dgm:presLayoutVars>
          <dgm:chMax val="1"/>
          <dgm:chPref val="1"/>
        </dgm:presLayoutVars>
      </dgm:prSet>
      <dgm:spPr/>
    </dgm:pt>
    <dgm:pt modelId="{0D1495B6-8783-4D1F-91E3-D78EE9981913}" type="pres">
      <dgm:prSet presAssocID="{8A46C6C5-09CC-4828-A7F5-A5472068AEE0}" presName="sibTrans" presStyleCnt="0"/>
      <dgm:spPr/>
    </dgm:pt>
    <dgm:pt modelId="{B8B5EF21-60B9-43FD-AB93-566715556C16}" type="pres">
      <dgm:prSet presAssocID="{851272EB-5C60-474B-A598-BD908B00AEA6}" presName="compNode" presStyleCnt="0"/>
      <dgm:spPr/>
    </dgm:pt>
    <dgm:pt modelId="{73092877-2CDA-478E-AC4E-888A2C9F5220}" type="pres">
      <dgm:prSet presAssocID="{851272EB-5C60-474B-A598-BD908B00AEA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DC3356-3E6A-4C91-8A7E-8321A3529B92}" type="pres">
      <dgm:prSet presAssocID="{851272EB-5C60-474B-A598-BD908B00AEA6}" presName="spaceRect" presStyleCnt="0"/>
      <dgm:spPr/>
    </dgm:pt>
    <dgm:pt modelId="{0EB50C14-8D53-414A-931D-072FD085332A}" type="pres">
      <dgm:prSet presAssocID="{851272EB-5C60-474B-A598-BD908B00AEA6}" presName="textRect" presStyleLbl="revTx" presStyleIdx="2" presStyleCnt="4">
        <dgm:presLayoutVars>
          <dgm:chMax val="1"/>
          <dgm:chPref val="1"/>
        </dgm:presLayoutVars>
      </dgm:prSet>
      <dgm:spPr/>
    </dgm:pt>
    <dgm:pt modelId="{A5D7B6D5-2389-4A4A-AB6D-FDDC3CDA0DBF}" type="pres">
      <dgm:prSet presAssocID="{03AA5249-2C19-411E-9F7E-3FCCAB66A9BC}" presName="sibTrans" presStyleCnt="0"/>
      <dgm:spPr/>
    </dgm:pt>
    <dgm:pt modelId="{6E2A5ADD-8AC4-4B7B-9775-5016C2A18AE6}" type="pres">
      <dgm:prSet presAssocID="{40069E2C-3882-48EB-9E94-F39C4B49C9DB}" presName="compNode" presStyleCnt="0"/>
      <dgm:spPr/>
    </dgm:pt>
    <dgm:pt modelId="{7D02141C-A4B3-409F-BA1F-028169EB80A1}" type="pres">
      <dgm:prSet presAssocID="{40069E2C-3882-48EB-9E94-F39C4B49C9D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7EC77B2F-88A7-467C-A5B1-D701C7283638}" type="pres">
      <dgm:prSet presAssocID="{40069E2C-3882-48EB-9E94-F39C4B49C9DB}" presName="spaceRect" presStyleCnt="0"/>
      <dgm:spPr/>
    </dgm:pt>
    <dgm:pt modelId="{CA5B6EC4-98BE-4262-8EF8-24DBB2D8BA56}" type="pres">
      <dgm:prSet presAssocID="{40069E2C-3882-48EB-9E94-F39C4B49C9D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844E46-2861-452E-9169-B06F5B355620}" srcId="{389ABD41-8A6B-4BB6-8C5F-FC8A427FF02C}" destId="{5C3C86D9-B2F9-415D-AF81-00E201DD4081}" srcOrd="0" destOrd="0" parTransId="{D9472738-D4DC-46E1-84D7-8554E768B507}" sibTransId="{C240E299-09EB-4A5C-A02D-F6E4BD6125E8}"/>
    <dgm:cxn modelId="{44BC827D-0DE2-AC4D-90D0-CF3D5E6362D4}" type="presOf" srcId="{41476BF2-2EDE-4DD5-8397-364C1C85E68F}" destId="{181B647C-BF6B-46D6-A2C7-4F83AD6974F1}" srcOrd="0" destOrd="0" presId="urn:microsoft.com/office/officeart/2018/2/layout/IconLabelList"/>
    <dgm:cxn modelId="{D684947E-96A0-4B85-8AAD-83DA8E6407D3}" srcId="{389ABD41-8A6B-4BB6-8C5F-FC8A427FF02C}" destId="{851272EB-5C60-474B-A598-BD908B00AEA6}" srcOrd="2" destOrd="0" parTransId="{69F3A14A-3519-4F6E-BF4D-488A5BBCE6C0}" sibTransId="{03AA5249-2C19-411E-9F7E-3FCCAB66A9BC}"/>
    <dgm:cxn modelId="{EFDCC18F-7845-364E-9C32-E5A2572CAEC5}" type="presOf" srcId="{40069E2C-3882-48EB-9E94-F39C4B49C9DB}" destId="{CA5B6EC4-98BE-4262-8EF8-24DBB2D8BA56}" srcOrd="0" destOrd="0" presId="urn:microsoft.com/office/officeart/2018/2/layout/IconLabelList"/>
    <dgm:cxn modelId="{6A5613AC-F108-3443-928F-C4C94DB7E098}" type="presOf" srcId="{389ABD41-8A6B-4BB6-8C5F-FC8A427FF02C}" destId="{1C574E86-B461-43ED-BD37-35B00AE8969E}" srcOrd="0" destOrd="0" presId="urn:microsoft.com/office/officeart/2018/2/layout/IconLabelList"/>
    <dgm:cxn modelId="{0D2712B9-6E2F-9C43-889A-9F41A7E72220}" type="presOf" srcId="{851272EB-5C60-474B-A598-BD908B00AEA6}" destId="{0EB50C14-8D53-414A-931D-072FD085332A}" srcOrd="0" destOrd="0" presId="urn:microsoft.com/office/officeart/2018/2/layout/IconLabelList"/>
    <dgm:cxn modelId="{87487EC3-3EA3-4346-B2B7-E248E6559A2E}" type="presOf" srcId="{5C3C86D9-B2F9-415D-AF81-00E201DD4081}" destId="{5BD94D99-E938-4670-A4E8-91495F31013B}" srcOrd="0" destOrd="0" presId="urn:microsoft.com/office/officeart/2018/2/layout/IconLabelList"/>
    <dgm:cxn modelId="{E0887CD3-DD89-473D-BE17-86DB1950DD8B}" srcId="{389ABD41-8A6B-4BB6-8C5F-FC8A427FF02C}" destId="{41476BF2-2EDE-4DD5-8397-364C1C85E68F}" srcOrd="1" destOrd="0" parTransId="{01C2A4A3-3F15-4703-B154-14A650E2B5E7}" sibTransId="{8A46C6C5-09CC-4828-A7F5-A5472068AEE0}"/>
    <dgm:cxn modelId="{F37B34DE-122F-428B-AE40-0EE8D257F556}" srcId="{389ABD41-8A6B-4BB6-8C5F-FC8A427FF02C}" destId="{40069E2C-3882-48EB-9E94-F39C4B49C9DB}" srcOrd="3" destOrd="0" parTransId="{6A3FD315-C3FD-42ED-9129-971A12ADEE0B}" sibTransId="{605297E1-1BA1-4C34-94C5-E53C2451A69A}"/>
    <dgm:cxn modelId="{63F383FD-7BCC-8145-B49A-F78689EA6483}" type="presParOf" srcId="{1C574E86-B461-43ED-BD37-35B00AE8969E}" destId="{8AE052C3-1A0F-4FED-AD20-25EEC676FE21}" srcOrd="0" destOrd="0" presId="urn:microsoft.com/office/officeart/2018/2/layout/IconLabelList"/>
    <dgm:cxn modelId="{42EFE314-6298-A245-8BCD-D50C85A7638F}" type="presParOf" srcId="{8AE052C3-1A0F-4FED-AD20-25EEC676FE21}" destId="{9BC76517-7F2C-43B6-ABAE-34145DA4DDB3}" srcOrd="0" destOrd="0" presId="urn:microsoft.com/office/officeart/2018/2/layout/IconLabelList"/>
    <dgm:cxn modelId="{054FE910-416A-514F-88AE-A22BBA15F0C0}" type="presParOf" srcId="{8AE052C3-1A0F-4FED-AD20-25EEC676FE21}" destId="{C52EF4AB-DD2E-40AB-9DAC-515D4F8DF223}" srcOrd="1" destOrd="0" presId="urn:microsoft.com/office/officeart/2018/2/layout/IconLabelList"/>
    <dgm:cxn modelId="{4054EAFA-C382-4A41-92AD-00665564CC52}" type="presParOf" srcId="{8AE052C3-1A0F-4FED-AD20-25EEC676FE21}" destId="{5BD94D99-E938-4670-A4E8-91495F31013B}" srcOrd="2" destOrd="0" presId="urn:microsoft.com/office/officeart/2018/2/layout/IconLabelList"/>
    <dgm:cxn modelId="{8552BB43-249C-8D41-9ABB-6B03C0D9E051}" type="presParOf" srcId="{1C574E86-B461-43ED-BD37-35B00AE8969E}" destId="{597C80F1-D25F-4E05-AD50-AC135FEEB3B5}" srcOrd="1" destOrd="0" presId="urn:microsoft.com/office/officeart/2018/2/layout/IconLabelList"/>
    <dgm:cxn modelId="{AF004596-7E47-BA4D-B42E-6075779583DC}" type="presParOf" srcId="{1C574E86-B461-43ED-BD37-35B00AE8969E}" destId="{36350553-3799-4E3E-B509-1E6570D5DD2B}" srcOrd="2" destOrd="0" presId="urn:microsoft.com/office/officeart/2018/2/layout/IconLabelList"/>
    <dgm:cxn modelId="{707CD542-5E1C-5E43-8DE2-D609572C07EE}" type="presParOf" srcId="{36350553-3799-4E3E-B509-1E6570D5DD2B}" destId="{F6BE2B37-DC67-4A4A-B1E8-313800CD8734}" srcOrd="0" destOrd="0" presId="urn:microsoft.com/office/officeart/2018/2/layout/IconLabelList"/>
    <dgm:cxn modelId="{608B478E-8294-A24C-93C2-899288A507EA}" type="presParOf" srcId="{36350553-3799-4E3E-B509-1E6570D5DD2B}" destId="{7A5D4D07-6D2A-4CCB-A41D-C2067602F4CF}" srcOrd="1" destOrd="0" presId="urn:microsoft.com/office/officeart/2018/2/layout/IconLabelList"/>
    <dgm:cxn modelId="{C508971D-75C2-F94E-B786-598E2AF25FD6}" type="presParOf" srcId="{36350553-3799-4E3E-B509-1E6570D5DD2B}" destId="{181B647C-BF6B-46D6-A2C7-4F83AD6974F1}" srcOrd="2" destOrd="0" presId="urn:microsoft.com/office/officeart/2018/2/layout/IconLabelList"/>
    <dgm:cxn modelId="{CDC71AA2-23B7-4F42-8F0B-1ACB3440A5A9}" type="presParOf" srcId="{1C574E86-B461-43ED-BD37-35B00AE8969E}" destId="{0D1495B6-8783-4D1F-91E3-D78EE9981913}" srcOrd="3" destOrd="0" presId="urn:microsoft.com/office/officeart/2018/2/layout/IconLabelList"/>
    <dgm:cxn modelId="{8F60EAA1-E214-2240-A36C-4A5FC272AC9F}" type="presParOf" srcId="{1C574E86-B461-43ED-BD37-35B00AE8969E}" destId="{B8B5EF21-60B9-43FD-AB93-566715556C16}" srcOrd="4" destOrd="0" presId="urn:microsoft.com/office/officeart/2018/2/layout/IconLabelList"/>
    <dgm:cxn modelId="{7566078D-757E-3846-92E3-0E957EF53DA4}" type="presParOf" srcId="{B8B5EF21-60B9-43FD-AB93-566715556C16}" destId="{73092877-2CDA-478E-AC4E-888A2C9F5220}" srcOrd="0" destOrd="0" presId="urn:microsoft.com/office/officeart/2018/2/layout/IconLabelList"/>
    <dgm:cxn modelId="{12F14016-8848-7E4F-B37C-0BE5334E7306}" type="presParOf" srcId="{B8B5EF21-60B9-43FD-AB93-566715556C16}" destId="{7CDC3356-3E6A-4C91-8A7E-8321A3529B92}" srcOrd="1" destOrd="0" presId="urn:microsoft.com/office/officeart/2018/2/layout/IconLabelList"/>
    <dgm:cxn modelId="{5FEE9B40-FDC3-994C-AEE5-6588E6607AF1}" type="presParOf" srcId="{B8B5EF21-60B9-43FD-AB93-566715556C16}" destId="{0EB50C14-8D53-414A-931D-072FD085332A}" srcOrd="2" destOrd="0" presId="urn:microsoft.com/office/officeart/2018/2/layout/IconLabelList"/>
    <dgm:cxn modelId="{CD6E3022-8479-4F4D-BE10-834290E8C321}" type="presParOf" srcId="{1C574E86-B461-43ED-BD37-35B00AE8969E}" destId="{A5D7B6D5-2389-4A4A-AB6D-FDDC3CDA0DBF}" srcOrd="5" destOrd="0" presId="urn:microsoft.com/office/officeart/2018/2/layout/IconLabelList"/>
    <dgm:cxn modelId="{1A1547E0-AD5D-014C-BCE3-46F803E98319}" type="presParOf" srcId="{1C574E86-B461-43ED-BD37-35B00AE8969E}" destId="{6E2A5ADD-8AC4-4B7B-9775-5016C2A18AE6}" srcOrd="6" destOrd="0" presId="urn:microsoft.com/office/officeart/2018/2/layout/IconLabelList"/>
    <dgm:cxn modelId="{E2D9B0C7-8710-A849-8D0B-78B0E51BF25C}" type="presParOf" srcId="{6E2A5ADD-8AC4-4B7B-9775-5016C2A18AE6}" destId="{7D02141C-A4B3-409F-BA1F-028169EB80A1}" srcOrd="0" destOrd="0" presId="urn:microsoft.com/office/officeart/2018/2/layout/IconLabelList"/>
    <dgm:cxn modelId="{A6EB8CE1-614F-A649-B9FA-F64CAB364F18}" type="presParOf" srcId="{6E2A5ADD-8AC4-4B7B-9775-5016C2A18AE6}" destId="{7EC77B2F-88A7-467C-A5B1-D701C7283638}" srcOrd="1" destOrd="0" presId="urn:microsoft.com/office/officeart/2018/2/layout/IconLabelList"/>
    <dgm:cxn modelId="{ABC0087F-37FD-AD48-B227-173880734C41}" type="presParOf" srcId="{6E2A5ADD-8AC4-4B7B-9775-5016C2A18AE6}" destId="{CA5B6EC4-98BE-4262-8EF8-24DBB2D8BA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09B903-88D6-49BF-8ACF-D2F00E72DB3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BD28651-64EE-46A4-A2B4-982CB25AA680}">
      <dgm:prSet/>
      <dgm:spPr/>
      <dgm:t>
        <a:bodyPr/>
        <a:lstStyle/>
        <a:p>
          <a:r>
            <a:rPr lang="en-US" b="1"/>
            <a:t>How it works</a:t>
          </a:r>
          <a:r>
            <a:rPr lang="en-US"/>
            <a:t>: Splits data into segments (e.g., high Sale Price vs. low Sale Price) and makes predictions based on group averages.</a:t>
          </a:r>
        </a:p>
      </dgm:t>
    </dgm:pt>
    <dgm:pt modelId="{29C8C9A8-3478-40F8-A7FA-72C663146122}" type="parTrans" cxnId="{030C20AA-ADBE-4376-ABBB-97EE3A4BF9B0}">
      <dgm:prSet/>
      <dgm:spPr/>
      <dgm:t>
        <a:bodyPr/>
        <a:lstStyle/>
        <a:p>
          <a:endParaRPr lang="en-US"/>
        </a:p>
      </dgm:t>
    </dgm:pt>
    <dgm:pt modelId="{C911C04F-2017-43F3-B759-E095E30D8541}" type="sibTrans" cxnId="{030C20AA-ADBE-4376-ABBB-97EE3A4BF9B0}">
      <dgm:prSet/>
      <dgm:spPr/>
      <dgm:t>
        <a:bodyPr/>
        <a:lstStyle/>
        <a:p>
          <a:endParaRPr lang="en-US"/>
        </a:p>
      </dgm:t>
    </dgm:pt>
    <dgm:pt modelId="{DE132932-FC87-4C73-80E8-7D2AB73B043B}">
      <dgm:prSet/>
      <dgm:spPr/>
      <dgm:t>
        <a:bodyPr/>
        <a:lstStyle/>
        <a:p>
          <a:r>
            <a:rPr lang="en-US" b="1"/>
            <a:t>Performance</a:t>
          </a:r>
          <a:r>
            <a:rPr lang="en-US"/>
            <a:t>: Best model with an average error of $921K.</a:t>
          </a:r>
        </a:p>
      </dgm:t>
    </dgm:pt>
    <dgm:pt modelId="{08191E82-5695-46F2-97CA-3F2D6C5FFD01}" type="parTrans" cxnId="{FD48E799-ADC9-458F-BB85-A499E23C3F95}">
      <dgm:prSet/>
      <dgm:spPr/>
      <dgm:t>
        <a:bodyPr/>
        <a:lstStyle/>
        <a:p>
          <a:endParaRPr lang="en-US"/>
        </a:p>
      </dgm:t>
    </dgm:pt>
    <dgm:pt modelId="{23FB7237-4F84-4434-B61A-A9C38103DBEB}" type="sibTrans" cxnId="{FD48E799-ADC9-458F-BB85-A499E23C3F95}">
      <dgm:prSet/>
      <dgm:spPr/>
      <dgm:t>
        <a:bodyPr/>
        <a:lstStyle/>
        <a:p>
          <a:endParaRPr lang="en-US"/>
        </a:p>
      </dgm:t>
    </dgm:pt>
    <dgm:pt modelId="{8A6344E3-7C75-4199-9B7D-DEB69E89A026}">
      <dgm:prSet/>
      <dgm:spPr/>
      <dgm:t>
        <a:bodyPr/>
        <a:lstStyle/>
        <a:p>
          <a:r>
            <a:rPr lang="en-US"/>
            <a:t>Captures complex patterns, such as how high Sale Price with low COGS leads to better profits.</a:t>
          </a:r>
        </a:p>
      </dgm:t>
    </dgm:pt>
    <dgm:pt modelId="{F187ED07-A3A3-4C2A-BEF3-1E6462878368}" type="parTrans" cxnId="{D99653AC-FB95-40AB-8CAB-86734DDB1599}">
      <dgm:prSet/>
      <dgm:spPr/>
      <dgm:t>
        <a:bodyPr/>
        <a:lstStyle/>
        <a:p>
          <a:endParaRPr lang="en-US"/>
        </a:p>
      </dgm:t>
    </dgm:pt>
    <dgm:pt modelId="{08AD1DDF-7589-4A81-B68E-2A354993D4C3}" type="sibTrans" cxnId="{D99653AC-FB95-40AB-8CAB-86734DDB1599}">
      <dgm:prSet/>
      <dgm:spPr/>
      <dgm:t>
        <a:bodyPr/>
        <a:lstStyle/>
        <a:p>
          <a:endParaRPr lang="en-US"/>
        </a:p>
      </dgm:t>
    </dgm:pt>
    <dgm:pt modelId="{94370819-FC71-4196-832F-AC483F2D6ACB}">
      <dgm:prSet/>
      <dgm:spPr/>
      <dgm:t>
        <a:bodyPr/>
        <a:lstStyle/>
        <a:p>
          <a:r>
            <a:rPr lang="en-US" b="1"/>
            <a:t>Result</a:t>
          </a:r>
          <a:r>
            <a:rPr lang="en-US"/>
            <a:t>: Handles variations in the data well, such as profit differences across products or countries.</a:t>
          </a:r>
        </a:p>
      </dgm:t>
    </dgm:pt>
    <dgm:pt modelId="{9E4EA895-D2DA-44AE-9631-8199970A5B4E}" type="parTrans" cxnId="{F20E6566-5BFC-4A79-AE16-B9F31AE99C41}">
      <dgm:prSet/>
      <dgm:spPr/>
      <dgm:t>
        <a:bodyPr/>
        <a:lstStyle/>
        <a:p>
          <a:endParaRPr lang="en-US"/>
        </a:p>
      </dgm:t>
    </dgm:pt>
    <dgm:pt modelId="{298E24BB-6F71-4F1C-9B78-9F3F9F9242EE}" type="sibTrans" cxnId="{F20E6566-5BFC-4A79-AE16-B9F31AE99C41}">
      <dgm:prSet/>
      <dgm:spPr/>
      <dgm:t>
        <a:bodyPr/>
        <a:lstStyle/>
        <a:p>
          <a:endParaRPr lang="en-US"/>
        </a:p>
      </dgm:t>
    </dgm:pt>
    <dgm:pt modelId="{FEDD9605-487A-4D01-9873-8F96DE5E61A9}" type="pres">
      <dgm:prSet presAssocID="{CE09B903-88D6-49BF-8ACF-D2F00E72DB30}" presName="root" presStyleCnt="0">
        <dgm:presLayoutVars>
          <dgm:dir/>
          <dgm:resizeHandles val="exact"/>
        </dgm:presLayoutVars>
      </dgm:prSet>
      <dgm:spPr/>
    </dgm:pt>
    <dgm:pt modelId="{68ED5DCB-53C1-4011-A75A-FF91830A04DF}" type="pres">
      <dgm:prSet presAssocID="{CE09B903-88D6-49BF-8ACF-D2F00E72DB30}" presName="container" presStyleCnt="0">
        <dgm:presLayoutVars>
          <dgm:dir/>
          <dgm:resizeHandles val="exact"/>
        </dgm:presLayoutVars>
      </dgm:prSet>
      <dgm:spPr/>
    </dgm:pt>
    <dgm:pt modelId="{ECFE24C4-3E3D-4D71-A48B-2EE4FCBD2776}" type="pres">
      <dgm:prSet presAssocID="{8BD28651-64EE-46A4-A2B4-982CB25AA680}" presName="compNode" presStyleCnt="0"/>
      <dgm:spPr/>
    </dgm:pt>
    <dgm:pt modelId="{D64F1133-E82A-42E5-97A1-ED9F07373F97}" type="pres">
      <dgm:prSet presAssocID="{8BD28651-64EE-46A4-A2B4-982CB25AA680}" presName="iconBgRect" presStyleLbl="bgShp" presStyleIdx="0" presStyleCnt="4"/>
      <dgm:spPr/>
    </dgm:pt>
    <dgm:pt modelId="{1E6889DB-AB7A-4CA1-8227-189EC5758E9D}" type="pres">
      <dgm:prSet presAssocID="{8BD28651-64EE-46A4-A2B4-982CB25AA68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DF3CAF3-12FE-4F92-B209-454C80C88BE6}" type="pres">
      <dgm:prSet presAssocID="{8BD28651-64EE-46A4-A2B4-982CB25AA680}" presName="spaceRect" presStyleCnt="0"/>
      <dgm:spPr/>
    </dgm:pt>
    <dgm:pt modelId="{3907ADF1-7545-4FD6-8005-3328599E0CEB}" type="pres">
      <dgm:prSet presAssocID="{8BD28651-64EE-46A4-A2B4-982CB25AA680}" presName="textRect" presStyleLbl="revTx" presStyleIdx="0" presStyleCnt="4">
        <dgm:presLayoutVars>
          <dgm:chMax val="1"/>
          <dgm:chPref val="1"/>
        </dgm:presLayoutVars>
      </dgm:prSet>
      <dgm:spPr/>
    </dgm:pt>
    <dgm:pt modelId="{F8037FE0-BB66-4AFB-9F56-0D743881BF7B}" type="pres">
      <dgm:prSet presAssocID="{C911C04F-2017-43F3-B759-E095E30D8541}" presName="sibTrans" presStyleLbl="sibTrans2D1" presStyleIdx="0" presStyleCnt="0"/>
      <dgm:spPr/>
    </dgm:pt>
    <dgm:pt modelId="{91D5AE6D-6E11-4A1F-A6C0-4E8AFFFE1586}" type="pres">
      <dgm:prSet presAssocID="{DE132932-FC87-4C73-80E8-7D2AB73B043B}" presName="compNode" presStyleCnt="0"/>
      <dgm:spPr/>
    </dgm:pt>
    <dgm:pt modelId="{E3394BF1-1BAC-458D-A5FA-C32FFBC6E38A}" type="pres">
      <dgm:prSet presAssocID="{DE132932-FC87-4C73-80E8-7D2AB73B043B}" presName="iconBgRect" presStyleLbl="bgShp" presStyleIdx="1" presStyleCnt="4"/>
      <dgm:spPr/>
    </dgm:pt>
    <dgm:pt modelId="{E459FA29-B0F1-4D42-80AF-488FDB1149EC}" type="pres">
      <dgm:prSet presAssocID="{DE132932-FC87-4C73-80E8-7D2AB73B04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9B8C9C18-7B12-4CA6-BB1E-33541E74578E}" type="pres">
      <dgm:prSet presAssocID="{DE132932-FC87-4C73-80E8-7D2AB73B043B}" presName="spaceRect" presStyleCnt="0"/>
      <dgm:spPr/>
    </dgm:pt>
    <dgm:pt modelId="{0AF9963A-007A-4D09-99C0-CC4044CE9F1B}" type="pres">
      <dgm:prSet presAssocID="{DE132932-FC87-4C73-80E8-7D2AB73B043B}" presName="textRect" presStyleLbl="revTx" presStyleIdx="1" presStyleCnt="4">
        <dgm:presLayoutVars>
          <dgm:chMax val="1"/>
          <dgm:chPref val="1"/>
        </dgm:presLayoutVars>
      </dgm:prSet>
      <dgm:spPr/>
    </dgm:pt>
    <dgm:pt modelId="{73AC73C5-8B10-49A1-AF52-9E05024F72C7}" type="pres">
      <dgm:prSet presAssocID="{23FB7237-4F84-4434-B61A-A9C38103DBEB}" presName="sibTrans" presStyleLbl="sibTrans2D1" presStyleIdx="0" presStyleCnt="0"/>
      <dgm:spPr/>
    </dgm:pt>
    <dgm:pt modelId="{8D38B4B5-8CAA-4FF2-8C72-9D0C83E396B8}" type="pres">
      <dgm:prSet presAssocID="{8A6344E3-7C75-4199-9B7D-DEB69E89A026}" presName="compNode" presStyleCnt="0"/>
      <dgm:spPr/>
    </dgm:pt>
    <dgm:pt modelId="{5DFE05C1-409A-4B80-A004-BD0311917E22}" type="pres">
      <dgm:prSet presAssocID="{8A6344E3-7C75-4199-9B7D-DEB69E89A026}" presName="iconBgRect" presStyleLbl="bgShp" presStyleIdx="2" presStyleCnt="4"/>
      <dgm:spPr/>
    </dgm:pt>
    <dgm:pt modelId="{57D8EDF8-D5F8-4B4E-BAC3-30C3413D228D}" type="pres">
      <dgm:prSet presAssocID="{8A6344E3-7C75-4199-9B7D-DEB69E89A0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D668E0E-D04A-43EB-90E4-3D56CF0749A9}" type="pres">
      <dgm:prSet presAssocID="{8A6344E3-7C75-4199-9B7D-DEB69E89A026}" presName="spaceRect" presStyleCnt="0"/>
      <dgm:spPr/>
    </dgm:pt>
    <dgm:pt modelId="{BF1880BA-22BD-485D-B328-A5B3BECF5446}" type="pres">
      <dgm:prSet presAssocID="{8A6344E3-7C75-4199-9B7D-DEB69E89A026}" presName="textRect" presStyleLbl="revTx" presStyleIdx="2" presStyleCnt="4">
        <dgm:presLayoutVars>
          <dgm:chMax val="1"/>
          <dgm:chPref val="1"/>
        </dgm:presLayoutVars>
      </dgm:prSet>
      <dgm:spPr/>
    </dgm:pt>
    <dgm:pt modelId="{19CCE858-A527-4C60-A9BB-D1DA49BA265B}" type="pres">
      <dgm:prSet presAssocID="{08AD1DDF-7589-4A81-B68E-2A354993D4C3}" presName="sibTrans" presStyleLbl="sibTrans2D1" presStyleIdx="0" presStyleCnt="0"/>
      <dgm:spPr/>
    </dgm:pt>
    <dgm:pt modelId="{03C95523-03EB-4079-8D0F-20A1AB7A1FC0}" type="pres">
      <dgm:prSet presAssocID="{94370819-FC71-4196-832F-AC483F2D6ACB}" presName="compNode" presStyleCnt="0"/>
      <dgm:spPr/>
    </dgm:pt>
    <dgm:pt modelId="{97EBDE58-52BA-40B3-AA1F-BDCFEF894CCC}" type="pres">
      <dgm:prSet presAssocID="{94370819-FC71-4196-832F-AC483F2D6ACB}" presName="iconBgRect" presStyleLbl="bgShp" presStyleIdx="3" presStyleCnt="4"/>
      <dgm:spPr/>
    </dgm:pt>
    <dgm:pt modelId="{A0FA49C4-4942-4675-800A-F2D26B3133C2}" type="pres">
      <dgm:prSet presAssocID="{94370819-FC71-4196-832F-AC483F2D6A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EA6EC5C7-B7C1-4CCC-BF79-774E62DFF550}" type="pres">
      <dgm:prSet presAssocID="{94370819-FC71-4196-832F-AC483F2D6ACB}" presName="spaceRect" presStyleCnt="0"/>
      <dgm:spPr/>
    </dgm:pt>
    <dgm:pt modelId="{CE985910-7D89-4C78-A51D-854AA4AA9B07}" type="pres">
      <dgm:prSet presAssocID="{94370819-FC71-4196-832F-AC483F2D6AC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8FF5B56-435B-4DF5-AFCA-F02CCFF2301A}" type="presOf" srcId="{C911C04F-2017-43F3-B759-E095E30D8541}" destId="{F8037FE0-BB66-4AFB-9F56-0D743881BF7B}" srcOrd="0" destOrd="0" presId="urn:microsoft.com/office/officeart/2018/2/layout/IconCircleList"/>
    <dgm:cxn modelId="{1B5F125F-CC14-458B-9D91-FF5D7A39C9A4}" type="presOf" srcId="{DE132932-FC87-4C73-80E8-7D2AB73B043B}" destId="{0AF9963A-007A-4D09-99C0-CC4044CE9F1B}" srcOrd="0" destOrd="0" presId="urn:microsoft.com/office/officeart/2018/2/layout/IconCircleList"/>
    <dgm:cxn modelId="{F20E6566-5BFC-4A79-AE16-B9F31AE99C41}" srcId="{CE09B903-88D6-49BF-8ACF-D2F00E72DB30}" destId="{94370819-FC71-4196-832F-AC483F2D6ACB}" srcOrd="3" destOrd="0" parTransId="{9E4EA895-D2DA-44AE-9631-8199970A5B4E}" sibTransId="{298E24BB-6F71-4F1C-9B78-9F3F9F9242EE}"/>
    <dgm:cxn modelId="{E8DA7077-C4AF-4A51-B478-57133BF0FD15}" type="presOf" srcId="{08AD1DDF-7589-4A81-B68E-2A354993D4C3}" destId="{19CCE858-A527-4C60-A9BB-D1DA49BA265B}" srcOrd="0" destOrd="0" presId="urn:microsoft.com/office/officeart/2018/2/layout/IconCircleList"/>
    <dgm:cxn modelId="{D587BC89-8743-4ED1-8114-66A6F0480EA1}" type="presOf" srcId="{94370819-FC71-4196-832F-AC483F2D6ACB}" destId="{CE985910-7D89-4C78-A51D-854AA4AA9B07}" srcOrd="0" destOrd="0" presId="urn:microsoft.com/office/officeart/2018/2/layout/IconCircleList"/>
    <dgm:cxn modelId="{FD48E799-ADC9-458F-BB85-A499E23C3F95}" srcId="{CE09B903-88D6-49BF-8ACF-D2F00E72DB30}" destId="{DE132932-FC87-4C73-80E8-7D2AB73B043B}" srcOrd="1" destOrd="0" parTransId="{08191E82-5695-46F2-97CA-3F2D6C5FFD01}" sibTransId="{23FB7237-4F84-4434-B61A-A9C38103DBEB}"/>
    <dgm:cxn modelId="{030C20AA-ADBE-4376-ABBB-97EE3A4BF9B0}" srcId="{CE09B903-88D6-49BF-8ACF-D2F00E72DB30}" destId="{8BD28651-64EE-46A4-A2B4-982CB25AA680}" srcOrd="0" destOrd="0" parTransId="{29C8C9A8-3478-40F8-A7FA-72C663146122}" sibTransId="{C911C04F-2017-43F3-B759-E095E30D8541}"/>
    <dgm:cxn modelId="{D99653AC-FB95-40AB-8CAB-86734DDB1599}" srcId="{CE09B903-88D6-49BF-8ACF-D2F00E72DB30}" destId="{8A6344E3-7C75-4199-9B7D-DEB69E89A026}" srcOrd="2" destOrd="0" parTransId="{F187ED07-A3A3-4C2A-BEF3-1E6462878368}" sibTransId="{08AD1DDF-7589-4A81-B68E-2A354993D4C3}"/>
    <dgm:cxn modelId="{723094C6-E44B-4E53-B696-C4A91178CDDF}" type="presOf" srcId="{8BD28651-64EE-46A4-A2B4-982CB25AA680}" destId="{3907ADF1-7545-4FD6-8005-3328599E0CEB}" srcOrd="0" destOrd="0" presId="urn:microsoft.com/office/officeart/2018/2/layout/IconCircleList"/>
    <dgm:cxn modelId="{12DCAADA-351F-41F5-ADCE-74B2CDB090B1}" type="presOf" srcId="{23FB7237-4F84-4434-B61A-A9C38103DBEB}" destId="{73AC73C5-8B10-49A1-AF52-9E05024F72C7}" srcOrd="0" destOrd="0" presId="urn:microsoft.com/office/officeart/2018/2/layout/IconCircleList"/>
    <dgm:cxn modelId="{AC6B3AE2-20FA-42E0-9525-DB6A97B84E04}" type="presOf" srcId="{8A6344E3-7C75-4199-9B7D-DEB69E89A026}" destId="{BF1880BA-22BD-485D-B328-A5B3BECF5446}" srcOrd="0" destOrd="0" presId="urn:microsoft.com/office/officeart/2018/2/layout/IconCircleList"/>
    <dgm:cxn modelId="{070D0FEE-3E62-4632-B135-55A0FF98391B}" type="presOf" srcId="{CE09B903-88D6-49BF-8ACF-D2F00E72DB30}" destId="{FEDD9605-487A-4D01-9873-8F96DE5E61A9}" srcOrd="0" destOrd="0" presId="urn:microsoft.com/office/officeart/2018/2/layout/IconCircleList"/>
    <dgm:cxn modelId="{655AE7E1-F1C7-462F-94E5-590D02A42339}" type="presParOf" srcId="{FEDD9605-487A-4D01-9873-8F96DE5E61A9}" destId="{68ED5DCB-53C1-4011-A75A-FF91830A04DF}" srcOrd="0" destOrd="0" presId="urn:microsoft.com/office/officeart/2018/2/layout/IconCircleList"/>
    <dgm:cxn modelId="{9C43688C-C56F-4489-AB3E-283D88D32739}" type="presParOf" srcId="{68ED5DCB-53C1-4011-A75A-FF91830A04DF}" destId="{ECFE24C4-3E3D-4D71-A48B-2EE4FCBD2776}" srcOrd="0" destOrd="0" presId="urn:microsoft.com/office/officeart/2018/2/layout/IconCircleList"/>
    <dgm:cxn modelId="{4F9927DE-A2B1-4DD8-B02A-6411FB87BAC4}" type="presParOf" srcId="{ECFE24C4-3E3D-4D71-A48B-2EE4FCBD2776}" destId="{D64F1133-E82A-42E5-97A1-ED9F07373F97}" srcOrd="0" destOrd="0" presId="urn:microsoft.com/office/officeart/2018/2/layout/IconCircleList"/>
    <dgm:cxn modelId="{E6E7BBBE-A876-43AF-90F1-D4DDFF0B2A7B}" type="presParOf" srcId="{ECFE24C4-3E3D-4D71-A48B-2EE4FCBD2776}" destId="{1E6889DB-AB7A-4CA1-8227-189EC5758E9D}" srcOrd="1" destOrd="0" presId="urn:microsoft.com/office/officeart/2018/2/layout/IconCircleList"/>
    <dgm:cxn modelId="{343961C7-EA45-4599-A4C3-9A67075F5C83}" type="presParOf" srcId="{ECFE24C4-3E3D-4D71-A48B-2EE4FCBD2776}" destId="{1DF3CAF3-12FE-4F92-B209-454C80C88BE6}" srcOrd="2" destOrd="0" presId="urn:microsoft.com/office/officeart/2018/2/layout/IconCircleList"/>
    <dgm:cxn modelId="{1825D526-DB47-4670-A5EA-FB3D2C259CBE}" type="presParOf" srcId="{ECFE24C4-3E3D-4D71-A48B-2EE4FCBD2776}" destId="{3907ADF1-7545-4FD6-8005-3328599E0CEB}" srcOrd="3" destOrd="0" presId="urn:microsoft.com/office/officeart/2018/2/layout/IconCircleList"/>
    <dgm:cxn modelId="{39FA2862-C305-4307-AE88-08FC56357DB3}" type="presParOf" srcId="{68ED5DCB-53C1-4011-A75A-FF91830A04DF}" destId="{F8037FE0-BB66-4AFB-9F56-0D743881BF7B}" srcOrd="1" destOrd="0" presId="urn:microsoft.com/office/officeart/2018/2/layout/IconCircleList"/>
    <dgm:cxn modelId="{4DB06499-86A3-4F23-A84A-F9D281210CCB}" type="presParOf" srcId="{68ED5DCB-53C1-4011-A75A-FF91830A04DF}" destId="{91D5AE6D-6E11-4A1F-A6C0-4E8AFFFE1586}" srcOrd="2" destOrd="0" presId="urn:microsoft.com/office/officeart/2018/2/layout/IconCircleList"/>
    <dgm:cxn modelId="{AACF8AD8-3757-466D-9647-A5E60C1E402F}" type="presParOf" srcId="{91D5AE6D-6E11-4A1F-A6C0-4E8AFFFE1586}" destId="{E3394BF1-1BAC-458D-A5FA-C32FFBC6E38A}" srcOrd="0" destOrd="0" presId="urn:microsoft.com/office/officeart/2018/2/layout/IconCircleList"/>
    <dgm:cxn modelId="{F65A1A91-0A11-43CE-B93B-9B6EB070C786}" type="presParOf" srcId="{91D5AE6D-6E11-4A1F-A6C0-4E8AFFFE1586}" destId="{E459FA29-B0F1-4D42-80AF-488FDB1149EC}" srcOrd="1" destOrd="0" presId="urn:microsoft.com/office/officeart/2018/2/layout/IconCircleList"/>
    <dgm:cxn modelId="{678413E7-52C0-4A95-AC01-BEC36F0D57CC}" type="presParOf" srcId="{91D5AE6D-6E11-4A1F-A6C0-4E8AFFFE1586}" destId="{9B8C9C18-7B12-4CA6-BB1E-33541E74578E}" srcOrd="2" destOrd="0" presId="urn:microsoft.com/office/officeart/2018/2/layout/IconCircleList"/>
    <dgm:cxn modelId="{6A7566DF-D164-4823-8E4D-B206D6246C18}" type="presParOf" srcId="{91D5AE6D-6E11-4A1F-A6C0-4E8AFFFE1586}" destId="{0AF9963A-007A-4D09-99C0-CC4044CE9F1B}" srcOrd="3" destOrd="0" presId="urn:microsoft.com/office/officeart/2018/2/layout/IconCircleList"/>
    <dgm:cxn modelId="{8904F316-2BE1-4CF1-A2B5-5DAB34B1D773}" type="presParOf" srcId="{68ED5DCB-53C1-4011-A75A-FF91830A04DF}" destId="{73AC73C5-8B10-49A1-AF52-9E05024F72C7}" srcOrd="3" destOrd="0" presId="urn:microsoft.com/office/officeart/2018/2/layout/IconCircleList"/>
    <dgm:cxn modelId="{2063EA81-645A-4E36-9A9D-550A49A035CC}" type="presParOf" srcId="{68ED5DCB-53C1-4011-A75A-FF91830A04DF}" destId="{8D38B4B5-8CAA-4FF2-8C72-9D0C83E396B8}" srcOrd="4" destOrd="0" presId="urn:microsoft.com/office/officeart/2018/2/layout/IconCircleList"/>
    <dgm:cxn modelId="{2811959D-21F3-4661-8A6A-4217024D9EFB}" type="presParOf" srcId="{8D38B4B5-8CAA-4FF2-8C72-9D0C83E396B8}" destId="{5DFE05C1-409A-4B80-A004-BD0311917E22}" srcOrd="0" destOrd="0" presId="urn:microsoft.com/office/officeart/2018/2/layout/IconCircleList"/>
    <dgm:cxn modelId="{C6729BF5-C7EE-449C-A5EC-E91AE4E405A4}" type="presParOf" srcId="{8D38B4B5-8CAA-4FF2-8C72-9D0C83E396B8}" destId="{57D8EDF8-D5F8-4B4E-BAC3-30C3413D228D}" srcOrd="1" destOrd="0" presId="urn:microsoft.com/office/officeart/2018/2/layout/IconCircleList"/>
    <dgm:cxn modelId="{5591649D-F2EB-4FF8-9703-7E2E320B8BB4}" type="presParOf" srcId="{8D38B4B5-8CAA-4FF2-8C72-9D0C83E396B8}" destId="{3D668E0E-D04A-43EB-90E4-3D56CF0749A9}" srcOrd="2" destOrd="0" presId="urn:microsoft.com/office/officeart/2018/2/layout/IconCircleList"/>
    <dgm:cxn modelId="{4C74C4BC-8AFC-4DDC-9BD4-674CC1466796}" type="presParOf" srcId="{8D38B4B5-8CAA-4FF2-8C72-9D0C83E396B8}" destId="{BF1880BA-22BD-485D-B328-A5B3BECF5446}" srcOrd="3" destOrd="0" presId="urn:microsoft.com/office/officeart/2018/2/layout/IconCircleList"/>
    <dgm:cxn modelId="{B716D1A1-565D-4D18-8456-E279065B28A3}" type="presParOf" srcId="{68ED5DCB-53C1-4011-A75A-FF91830A04DF}" destId="{19CCE858-A527-4C60-A9BB-D1DA49BA265B}" srcOrd="5" destOrd="0" presId="urn:microsoft.com/office/officeart/2018/2/layout/IconCircleList"/>
    <dgm:cxn modelId="{8F6AE8E1-FC56-4D1E-8C2C-A7A8771C0386}" type="presParOf" srcId="{68ED5DCB-53C1-4011-A75A-FF91830A04DF}" destId="{03C95523-03EB-4079-8D0F-20A1AB7A1FC0}" srcOrd="6" destOrd="0" presId="urn:microsoft.com/office/officeart/2018/2/layout/IconCircleList"/>
    <dgm:cxn modelId="{1A7A6203-9A94-4214-B1F5-F2327F3E7D9D}" type="presParOf" srcId="{03C95523-03EB-4079-8D0F-20A1AB7A1FC0}" destId="{97EBDE58-52BA-40B3-AA1F-BDCFEF894CCC}" srcOrd="0" destOrd="0" presId="urn:microsoft.com/office/officeart/2018/2/layout/IconCircleList"/>
    <dgm:cxn modelId="{FB0E06DC-39F6-4AB9-A44A-08036C27A019}" type="presParOf" srcId="{03C95523-03EB-4079-8D0F-20A1AB7A1FC0}" destId="{A0FA49C4-4942-4675-800A-F2D26B3133C2}" srcOrd="1" destOrd="0" presId="urn:microsoft.com/office/officeart/2018/2/layout/IconCircleList"/>
    <dgm:cxn modelId="{4F8804D4-9060-4880-90B5-F919071E9D39}" type="presParOf" srcId="{03C95523-03EB-4079-8D0F-20A1AB7A1FC0}" destId="{EA6EC5C7-B7C1-4CCC-BF79-774E62DFF550}" srcOrd="2" destOrd="0" presId="urn:microsoft.com/office/officeart/2018/2/layout/IconCircleList"/>
    <dgm:cxn modelId="{CA18871D-23C6-4C4B-985D-D6FBB807210F}" type="presParOf" srcId="{03C95523-03EB-4079-8D0F-20A1AB7A1FC0}" destId="{CE985910-7D89-4C78-A51D-854AA4AA9B0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6210C9-C834-4089-AAE7-67E822CC80B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B32A75-3738-4A8A-8706-9542C5405200}">
      <dgm:prSet/>
      <dgm:spPr/>
      <dgm:t>
        <a:bodyPr/>
        <a:lstStyle/>
        <a:p>
          <a:r>
            <a:rPr lang="en-US" b="1"/>
            <a:t>How it works</a:t>
          </a:r>
          <a:r>
            <a:rPr lang="en-US"/>
            <a:t>: Predicts Profit by averaging the profits of similar past sales (e.g., items with similar Units Sold and Sale Price).</a:t>
          </a:r>
        </a:p>
      </dgm:t>
    </dgm:pt>
    <dgm:pt modelId="{C5FEBDA3-4CB1-45A6-9F6C-2EDFF78126CB}" type="parTrans" cxnId="{6C0E654B-80D4-486D-AFED-5A59FE79C676}">
      <dgm:prSet/>
      <dgm:spPr/>
      <dgm:t>
        <a:bodyPr/>
        <a:lstStyle/>
        <a:p>
          <a:endParaRPr lang="en-US"/>
        </a:p>
      </dgm:t>
    </dgm:pt>
    <dgm:pt modelId="{94047947-6199-4A65-9676-F255431089ED}" type="sibTrans" cxnId="{6C0E654B-80D4-486D-AFED-5A59FE79C676}">
      <dgm:prSet/>
      <dgm:spPr/>
      <dgm:t>
        <a:bodyPr/>
        <a:lstStyle/>
        <a:p>
          <a:endParaRPr lang="en-US"/>
        </a:p>
      </dgm:t>
    </dgm:pt>
    <dgm:pt modelId="{96C9BE18-B521-4088-BD50-7E5A15B960CD}">
      <dgm:prSet/>
      <dgm:spPr/>
      <dgm:t>
        <a:bodyPr/>
        <a:lstStyle/>
        <a:p>
          <a:r>
            <a:rPr lang="en-US" b="1"/>
            <a:t>Performance</a:t>
          </a:r>
          <a:r>
            <a:rPr lang="en-US"/>
            <a:t>: Moderately accurate with errors around $1M.</a:t>
          </a:r>
        </a:p>
      </dgm:t>
    </dgm:pt>
    <dgm:pt modelId="{9A73D514-CF58-4DDE-BFFA-5A3D3FD312EF}" type="parTrans" cxnId="{E117E3EC-D949-4469-BAF7-7DB9A0BFABCC}">
      <dgm:prSet/>
      <dgm:spPr/>
      <dgm:t>
        <a:bodyPr/>
        <a:lstStyle/>
        <a:p>
          <a:endParaRPr lang="en-US"/>
        </a:p>
      </dgm:t>
    </dgm:pt>
    <dgm:pt modelId="{246FF57A-7ED3-42DA-96FE-49EE7388A734}" type="sibTrans" cxnId="{E117E3EC-D949-4469-BAF7-7DB9A0BFABCC}">
      <dgm:prSet/>
      <dgm:spPr/>
      <dgm:t>
        <a:bodyPr/>
        <a:lstStyle/>
        <a:p>
          <a:endParaRPr lang="en-US"/>
        </a:p>
      </dgm:t>
    </dgm:pt>
    <dgm:pt modelId="{93ACE24B-374F-46A1-A798-BD7CF4D23D91}">
      <dgm:prSet/>
      <dgm:spPr/>
      <dgm:t>
        <a:bodyPr/>
        <a:lstStyle/>
        <a:p>
          <a:r>
            <a:rPr lang="en-US"/>
            <a:t>Works well in cases with consistent data but struggles with outliers or unusual combinations.</a:t>
          </a:r>
        </a:p>
      </dgm:t>
    </dgm:pt>
    <dgm:pt modelId="{40A2BCEF-E4CD-4232-9DF5-65C6F0C2E1B7}" type="parTrans" cxnId="{A180F1C9-F58F-432C-9049-406FB6E85260}">
      <dgm:prSet/>
      <dgm:spPr/>
      <dgm:t>
        <a:bodyPr/>
        <a:lstStyle/>
        <a:p>
          <a:endParaRPr lang="en-US"/>
        </a:p>
      </dgm:t>
    </dgm:pt>
    <dgm:pt modelId="{2551C35A-3324-4907-93C0-84A46431C0C3}" type="sibTrans" cxnId="{A180F1C9-F58F-432C-9049-406FB6E85260}">
      <dgm:prSet/>
      <dgm:spPr/>
      <dgm:t>
        <a:bodyPr/>
        <a:lstStyle/>
        <a:p>
          <a:endParaRPr lang="en-US"/>
        </a:p>
      </dgm:t>
    </dgm:pt>
    <dgm:pt modelId="{C13CC00E-753B-48EE-B3D9-5E49ECA5FFD7}">
      <dgm:prSet/>
      <dgm:spPr/>
      <dgm:t>
        <a:bodyPr/>
        <a:lstStyle/>
        <a:p>
          <a:r>
            <a:rPr lang="en-US" b="1"/>
            <a:t>Result</a:t>
          </a:r>
          <a:r>
            <a:rPr lang="en-US"/>
            <a:t>: Slightly less accurate than Decision Tree but still a reasonable predictor.</a:t>
          </a:r>
        </a:p>
      </dgm:t>
    </dgm:pt>
    <dgm:pt modelId="{1076AA99-8E86-4B41-A16A-43888EF53B46}" type="parTrans" cxnId="{7ED71369-F72C-406C-BBD7-BBE031AFAA9D}">
      <dgm:prSet/>
      <dgm:spPr/>
      <dgm:t>
        <a:bodyPr/>
        <a:lstStyle/>
        <a:p>
          <a:endParaRPr lang="en-US"/>
        </a:p>
      </dgm:t>
    </dgm:pt>
    <dgm:pt modelId="{979B7B04-5DB7-4225-9C86-5E3CEF59CA12}" type="sibTrans" cxnId="{7ED71369-F72C-406C-BBD7-BBE031AFAA9D}">
      <dgm:prSet/>
      <dgm:spPr/>
      <dgm:t>
        <a:bodyPr/>
        <a:lstStyle/>
        <a:p>
          <a:endParaRPr lang="en-US"/>
        </a:p>
      </dgm:t>
    </dgm:pt>
    <dgm:pt modelId="{1015A73B-B426-4E6B-9DB4-0FE8AAF48D2F}" type="pres">
      <dgm:prSet presAssocID="{736210C9-C834-4089-AAE7-67E822CC80B8}" presName="root" presStyleCnt="0">
        <dgm:presLayoutVars>
          <dgm:dir/>
          <dgm:resizeHandles val="exact"/>
        </dgm:presLayoutVars>
      </dgm:prSet>
      <dgm:spPr/>
    </dgm:pt>
    <dgm:pt modelId="{73AD7181-4E2A-4F9D-A4F3-AC9E0F15406D}" type="pres">
      <dgm:prSet presAssocID="{2BB32A75-3738-4A8A-8706-9542C5405200}" presName="compNode" presStyleCnt="0"/>
      <dgm:spPr/>
    </dgm:pt>
    <dgm:pt modelId="{AFE8F14C-159B-4A08-92B1-340A63910CAA}" type="pres">
      <dgm:prSet presAssocID="{2BB32A75-3738-4A8A-8706-9542C54052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78431F0-AA33-40CF-B895-851890F43562}" type="pres">
      <dgm:prSet presAssocID="{2BB32A75-3738-4A8A-8706-9542C5405200}" presName="spaceRect" presStyleCnt="0"/>
      <dgm:spPr/>
    </dgm:pt>
    <dgm:pt modelId="{035A000F-D3A7-48DC-BFF3-669E45CC1469}" type="pres">
      <dgm:prSet presAssocID="{2BB32A75-3738-4A8A-8706-9542C5405200}" presName="textRect" presStyleLbl="revTx" presStyleIdx="0" presStyleCnt="4">
        <dgm:presLayoutVars>
          <dgm:chMax val="1"/>
          <dgm:chPref val="1"/>
        </dgm:presLayoutVars>
      </dgm:prSet>
      <dgm:spPr/>
    </dgm:pt>
    <dgm:pt modelId="{F7F944D7-0D4C-4343-931A-7D1F68899B83}" type="pres">
      <dgm:prSet presAssocID="{94047947-6199-4A65-9676-F255431089ED}" presName="sibTrans" presStyleCnt="0"/>
      <dgm:spPr/>
    </dgm:pt>
    <dgm:pt modelId="{55F68241-8F66-4809-8D46-DB646DFDA711}" type="pres">
      <dgm:prSet presAssocID="{96C9BE18-B521-4088-BD50-7E5A15B960CD}" presName="compNode" presStyleCnt="0"/>
      <dgm:spPr/>
    </dgm:pt>
    <dgm:pt modelId="{C9445EE0-A7BE-4327-AD85-E4B315B1DD3F}" type="pres">
      <dgm:prSet presAssocID="{96C9BE18-B521-4088-BD50-7E5A15B960C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E1D4493-4B16-4D43-AA6D-49233AE3C96D}" type="pres">
      <dgm:prSet presAssocID="{96C9BE18-B521-4088-BD50-7E5A15B960CD}" presName="spaceRect" presStyleCnt="0"/>
      <dgm:spPr/>
    </dgm:pt>
    <dgm:pt modelId="{15D8954F-FF6E-4931-AE70-CB5F9C8B5E24}" type="pres">
      <dgm:prSet presAssocID="{96C9BE18-B521-4088-BD50-7E5A15B960CD}" presName="textRect" presStyleLbl="revTx" presStyleIdx="1" presStyleCnt="4">
        <dgm:presLayoutVars>
          <dgm:chMax val="1"/>
          <dgm:chPref val="1"/>
        </dgm:presLayoutVars>
      </dgm:prSet>
      <dgm:spPr/>
    </dgm:pt>
    <dgm:pt modelId="{FE309BB9-454B-482A-82CB-58CFFBA9B9D3}" type="pres">
      <dgm:prSet presAssocID="{246FF57A-7ED3-42DA-96FE-49EE7388A734}" presName="sibTrans" presStyleCnt="0"/>
      <dgm:spPr/>
    </dgm:pt>
    <dgm:pt modelId="{6B0F8E6D-5E39-4767-89DA-F64EECC2C340}" type="pres">
      <dgm:prSet presAssocID="{93ACE24B-374F-46A1-A798-BD7CF4D23D91}" presName="compNode" presStyleCnt="0"/>
      <dgm:spPr/>
    </dgm:pt>
    <dgm:pt modelId="{3A4850AF-8BA7-4D53-A13C-8D51818CFAA4}" type="pres">
      <dgm:prSet presAssocID="{93ACE24B-374F-46A1-A798-BD7CF4D23D9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CBDBA8F-7718-4872-8347-305019008FEB}" type="pres">
      <dgm:prSet presAssocID="{93ACE24B-374F-46A1-A798-BD7CF4D23D91}" presName="spaceRect" presStyleCnt="0"/>
      <dgm:spPr/>
    </dgm:pt>
    <dgm:pt modelId="{4C5A6252-96DE-4E06-A0DA-12FE95BA9B97}" type="pres">
      <dgm:prSet presAssocID="{93ACE24B-374F-46A1-A798-BD7CF4D23D91}" presName="textRect" presStyleLbl="revTx" presStyleIdx="2" presStyleCnt="4">
        <dgm:presLayoutVars>
          <dgm:chMax val="1"/>
          <dgm:chPref val="1"/>
        </dgm:presLayoutVars>
      </dgm:prSet>
      <dgm:spPr/>
    </dgm:pt>
    <dgm:pt modelId="{C87B7E8C-3B9E-4428-B53C-A03974A35F0E}" type="pres">
      <dgm:prSet presAssocID="{2551C35A-3324-4907-93C0-84A46431C0C3}" presName="sibTrans" presStyleCnt="0"/>
      <dgm:spPr/>
    </dgm:pt>
    <dgm:pt modelId="{92A8909E-BD9F-403F-B828-2141FB67530B}" type="pres">
      <dgm:prSet presAssocID="{C13CC00E-753B-48EE-B3D9-5E49ECA5FFD7}" presName="compNode" presStyleCnt="0"/>
      <dgm:spPr/>
    </dgm:pt>
    <dgm:pt modelId="{2953B536-746F-4455-92EB-48D4401968D5}" type="pres">
      <dgm:prSet presAssocID="{C13CC00E-753B-48EE-B3D9-5E49ECA5FFD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30B8A9C-CD2D-4433-9C7B-00EFFBC91228}" type="pres">
      <dgm:prSet presAssocID="{C13CC00E-753B-48EE-B3D9-5E49ECA5FFD7}" presName="spaceRect" presStyleCnt="0"/>
      <dgm:spPr/>
    </dgm:pt>
    <dgm:pt modelId="{1905AF66-CDC2-4DC1-837C-DFD278DE6318}" type="pres">
      <dgm:prSet presAssocID="{C13CC00E-753B-48EE-B3D9-5E49ECA5FFD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F0B582F-F8D6-4424-89AE-4A00EEBBBEDD}" type="presOf" srcId="{93ACE24B-374F-46A1-A798-BD7CF4D23D91}" destId="{4C5A6252-96DE-4E06-A0DA-12FE95BA9B97}" srcOrd="0" destOrd="0" presId="urn:microsoft.com/office/officeart/2018/2/layout/IconLabelList"/>
    <dgm:cxn modelId="{6C0E654B-80D4-486D-AFED-5A59FE79C676}" srcId="{736210C9-C834-4089-AAE7-67E822CC80B8}" destId="{2BB32A75-3738-4A8A-8706-9542C5405200}" srcOrd="0" destOrd="0" parTransId="{C5FEBDA3-4CB1-45A6-9F6C-2EDFF78126CB}" sibTransId="{94047947-6199-4A65-9676-F255431089ED}"/>
    <dgm:cxn modelId="{7ED71369-F72C-406C-BBD7-BBE031AFAA9D}" srcId="{736210C9-C834-4089-AAE7-67E822CC80B8}" destId="{C13CC00E-753B-48EE-B3D9-5E49ECA5FFD7}" srcOrd="3" destOrd="0" parTransId="{1076AA99-8E86-4B41-A16A-43888EF53B46}" sibTransId="{979B7B04-5DB7-4225-9C86-5E3CEF59CA12}"/>
    <dgm:cxn modelId="{8F919675-282B-4F25-BA9F-F10550603D89}" type="presOf" srcId="{C13CC00E-753B-48EE-B3D9-5E49ECA5FFD7}" destId="{1905AF66-CDC2-4DC1-837C-DFD278DE6318}" srcOrd="0" destOrd="0" presId="urn:microsoft.com/office/officeart/2018/2/layout/IconLabelList"/>
    <dgm:cxn modelId="{1E89A87C-35E6-4781-8879-29D9C640AD32}" type="presOf" srcId="{736210C9-C834-4089-AAE7-67E822CC80B8}" destId="{1015A73B-B426-4E6B-9DB4-0FE8AAF48D2F}" srcOrd="0" destOrd="0" presId="urn:microsoft.com/office/officeart/2018/2/layout/IconLabelList"/>
    <dgm:cxn modelId="{1A639FB6-306B-4FF7-B164-186E9A8FB5AE}" type="presOf" srcId="{96C9BE18-B521-4088-BD50-7E5A15B960CD}" destId="{15D8954F-FF6E-4931-AE70-CB5F9C8B5E24}" srcOrd="0" destOrd="0" presId="urn:microsoft.com/office/officeart/2018/2/layout/IconLabelList"/>
    <dgm:cxn modelId="{A180F1C9-F58F-432C-9049-406FB6E85260}" srcId="{736210C9-C834-4089-AAE7-67E822CC80B8}" destId="{93ACE24B-374F-46A1-A798-BD7CF4D23D91}" srcOrd="2" destOrd="0" parTransId="{40A2BCEF-E4CD-4232-9DF5-65C6F0C2E1B7}" sibTransId="{2551C35A-3324-4907-93C0-84A46431C0C3}"/>
    <dgm:cxn modelId="{32E2C6D8-9620-42C9-BA3D-B4A807962830}" type="presOf" srcId="{2BB32A75-3738-4A8A-8706-9542C5405200}" destId="{035A000F-D3A7-48DC-BFF3-669E45CC1469}" srcOrd="0" destOrd="0" presId="urn:microsoft.com/office/officeart/2018/2/layout/IconLabelList"/>
    <dgm:cxn modelId="{E117E3EC-D949-4469-BAF7-7DB9A0BFABCC}" srcId="{736210C9-C834-4089-AAE7-67E822CC80B8}" destId="{96C9BE18-B521-4088-BD50-7E5A15B960CD}" srcOrd="1" destOrd="0" parTransId="{9A73D514-CF58-4DDE-BFFA-5A3D3FD312EF}" sibTransId="{246FF57A-7ED3-42DA-96FE-49EE7388A734}"/>
    <dgm:cxn modelId="{70BBA74B-425C-4A6C-8829-B4AB303E6AE6}" type="presParOf" srcId="{1015A73B-B426-4E6B-9DB4-0FE8AAF48D2F}" destId="{73AD7181-4E2A-4F9D-A4F3-AC9E0F15406D}" srcOrd="0" destOrd="0" presId="urn:microsoft.com/office/officeart/2018/2/layout/IconLabelList"/>
    <dgm:cxn modelId="{228F3F9E-1186-4F6D-AB09-1FE6650EDB3F}" type="presParOf" srcId="{73AD7181-4E2A-4F9D-A4F3-AC9E0F15406D}" destId="{AFE8F14C-159B-4A08-92B1-340A63910CAA}" srcOrd="0" destOrd="0" presId="urn:microsoft.com/office/officeart/2018/2/layout/IconLabelList"/>
    <dgm:cxn modelId="{CBF95349-061E-48D1-92BE-34DD9B625E73}" type="presParOf" srcId="{73AD7181-4E2A-4F9D-A4F3-AC9E0F15406D}" destId="{B78431F0-AA33-40CF-B895-851890F43562}" srcOrd="1" destOrd="0" presId="urn:microsoft.com/office/officeart/2018/2/layout/IconLabelList"/>
    <dgm:cxn modelId="{9659B013-4005-4C8E-8E9E-15D412A2A52E}" type="presParOf" srcId="{73AD7181-4E2A-4F9D-A4F3-AC9E0F15406D}" destId="{035A000F-D3A7-48DC-BFF3-669E45CC1469}" srcOrd="2" destOrd="0" presId="urn:microsoft.com/office/officeart/2018/2/layout/IconLabelList"/>
    <dgm:cxn modelId="{F978D9C9-E8A3-4664-B65C-BF333B1FB3D3}" type="presParOf" srcId="{1015A73B-B426-4E6B-9DB4-0FE8AAF48D2F}" destId="{F7F944D7-0D4C-4343-931A-7D1F68899B83}" srcOrd="1" destOrd="0" presId="urn:microsoft.com/office/officeart/2018/2/layout/IconLabelList"/>
    <dgm:cxn modelId="{A12E0253-CF07-434F-8519-26C1BC8740A0}" type="presParOf" srcId="{1015A73B-B426-4E6B-9DB4-0FE8AAF48D2F}" destId="{55F68241-8F66-4809-8D46-DB646DFDA711}" srcOrd="2" destOrd="0" presId="urn:microsoft.com/office/officeart/2018/2/layout/IconLabelList"/>
    <dgm:cxn modelId="{5E7EE476-5B9E-4F87-B834-D7CFF1672402}" type="presParOf" srcId="{55F68241-8F66-4809-8D46-DB646DFDA711}" destId="{C9445EE0-A7BE-4327-AD85-E4B315B1DD3F}" srcOrd="0" destOrd="0" presId="urn:microsoft.com/office/officeart/2018/2/layout/IconLabelList"/>
    <dgm:cxn modelId="{F4A88251-9851-45AA-BEAF-B3421BC7D162}" type="presParOf" srcId="{55F68241-8F66-4809-8D46-DB646DFDA711}" destId="{CE1D4493-4B16-4D43-AA6D-49233AE3C96D}" srcOrd="1" destOrd="0" presId="urn:microsoft.com/office/officeart/2018/2/layout/IconLabelList"/>
    <dgm:cxn modelId="{F946ECC5-2414-4014-B4F0-04313D8C11C3}" type="presParOf" srcId="{55F68241-8F66-4809-8D46-DB646DFDA711}" destId="{15D8954F-FF6E-4931-AE70-CB5F9C8B5E24}" srcOrd="2" destOrd="0" presId="urn:microsoft.com/office/officeart/2018/2/layout/IconLabelList"/>
    <dgm:cxn modelId="{ED96DA8A-3FE6-487F-AA66-75BB636BCEEF}" type="presParOf" srcId="{1015A73B-B426-4E6B-9DB4-0FE8AAF48D2F}" destId="{FE309BB9-454B-482A-82CB-58CFFBA9B9D3}" srcOrd="3" destOrd="0" presId="urn:microsoft.com/office/officeart/2018/2/layout/IconLabelList"/>
    <dgm:cxn modelId="{26367A66-20C1-4968-81E8-1ED78D8567F8}" type="presParOf" srcId="{1015A73B-B426-4E6B-9DB4-0FE8AAF48D2F}" destId="{6B0F8E6D-5E39-4767-89DA-F64EECC2C340}" srcOrd="4" destOrd="0" presId="urn:microsoft.com/office/officeart/2018/2/layout/IconLabelList"/>
    <dgm:cxn modelId="{6AF89B54-FE57-4C30-B403-53031EB1FD4D}" type="presParOf" srcId="{6B0F8E6D-5E39-4767-89DA-F64EECC2C340}" destId="{3A4850AF-8BA7-4D53-A13C-8D51818CFAA4}" srcOrd="0" destOrd="0" presId="urn:microsoft.com/office/officeart/2018/2/layout/IconLabelList"/>
    <dgm:cxn modelId="{742C9C33-3184-4E99-B26D-41ECD2E52EEC}" type="presParOf" srcId="{6B0F8E6D-5E39-4767-89DA-F64EECC2C340}" destId="{9CBDBA8F-7718-4872-8347-305019008FEB}" srcOrd="1" destOrd="0" presId="urn:microsoft.com/office/officeart/2018/2/layout/IconLabelList"/>
    <dgm:cxn modelId="{153F0D4F-1984-4B0B-99E2-0F52E9E89702}" type="presParOf" srcId="{6B0F8E6D-5E39-4767-89DA-F64EECC2C340}" destId="{4C5A6252-96DE-4E06-A0DA-12FE95BA9B97}" srcOrd="2" destOrd="0" presId="urn:microsoft.com/office/officeart/2018/2/layout/IconLabelList"/>
    <dgm:cxn modelId="{01BC9352-9B14-4E91-A2CC-C92D6522C7A2}" type="presParOf" srcId="{1015A73B-B426-4E6B-9DB4-0FE8AAF48D2F}" destId="{C87B7E8C-3B9E-4428-B53C-A03974A35F0E}" srcOrd="5" destOrd="0" presId="urn:microsoft.com/office/officeart/2018/2/layout/IconLabelList"/>
    <dgm:cxn modelId="{1EA03EE3-5677-44AD-B170-B25BA9915F85}" type="presParOf" srcId="{1015A73B-B426-4E6B-9DB4-0FE8AAF48D2F}" destId="{92A8909E-BD9F-403F-B828-2141FB67530B}" srcOrd="6" destOrd="0" presId="urn:microsoft.com/office/officeart/2018/2/layout/IconLabelList"/>
    <dgm:cxn modelId="{037ABFF1-2058-4C01-90D4-0F1EC26E6357}" type="presParOf" srcId="{92A8909E-BD9F-403F-B828-2141FB67530B}" destId="{2953B536-746F-4455-92EB-48D4401968D5}" srcOrd="0" destOrd="0" presId="urn:microsoft.com/office/officeart/2018/2/layout/IconLabelList"/>
    <dgm:cxn modelId="{A5F0C7E7-FDE4-45B2-B697-E8507D4CC156}" type="presParOf" srcId="{92A8909E-BD9F-403F-B828-2141FB67530B}" destId="{F30B8A9C-CD2D-4433-9C7B-00EFFBC91228}" srcOrd="1" destOrd="0" presId="urn:microsoft.com/office/officeart/2018/2/layout/IconLabelList"/>
    <dgm:cxn modelId="{BBE84953-5927-43DD-A675-B8592F0EE280}" type="presParOf" srcId="{92A8909E-BD9F-403F-B828-2141FB67530B}" destId="{1905AF66-CDC2-4DC1-837C-DFD278DE63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913EF-F003-2445-8D0A-FA43EE6E2218}">
      <dsp:nvSpPr>
        <dsp:cNvPr id="0" name=""/>
        <dsp:cNvSpPr/>
      </dsp:nvSpPr>
      <dsp:spPr>
        <a:xfrm>
          <a:off x="0" y="0"/>
          <a:ext cx="671355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CCC897C-7787-314C-98C6-8AE1B0369D00}">
      <dsp:nvSpPr>
        <dsp:cNvPr id="0" name=""/>
        <dsp:cNvSpPr/>
      </dsp:nvSpPr>
      <dsp:spPr>
        <a:xfrm>
          <a:off x="0" y="0"/>
          <a:ext cx="6713552" cy="102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Helvetica" pitchFamily="2" charset="0"/>
            </a:rPr>
            <a:t>The dataset comprises </a:t>
          </a:r>
          <a:r>
            <a:rPr lang="en-US" sz="1700" b="1" kern="1200" dirty="0">
              <a:latin typeface="Helvetica" pitchFamily="2" charset="0"/>
            </a:rPr>
            <a:t>700 rows and 16 columns</a:t>
          </a:r>
          <a:r>
            <a:rPr lang="en-US" sz="1700" kern="1200" dirty="0">
              <a:latin typeface="Helvetica" pitchFamily="2" charset="0"/>
            </a:rPr>
            <a:t>, detailing sales and financial performance across various segments, countries, and products. </a:t>
          </a:r>
        </a:p>
      </dsp:txBody>
      <dsp:txXfrm>
        <a:off x="0" y="0"/>
        <a:ext cx="6713552" cy="1029793"/>
      </dsp:txXfrm>
    </dsp:sp>
    <dsp:sp modelId="{38AEA5DE-A053-8E4D-9D39-00E20A91DAA8}">
      <dsp:nvSpPr>
        <dsp:cNvPr id="0" name=""/>
        <dsp:cNvSpPr/>
      </dsp:nvSpPr>
      <dsp:spPr>
        <a:xfrm>
          <a:off x="0" y="1029792"/>
          <a:ext cx="6713552" cy="0"/>
        </a:xfrm>
        <a:prstGeom prst="line">
          <a:avLst/>
        </a:prstGeom>
        <a:gradFill rotWithShape="0">
          <a:gsLst>
            <a:gs pos="0">
              <a:schemeClr val="accent5">
                <a:hueOff val="439570"/>
                <a:satOff val="-3135"/>
                <a:lumOff val="-5686"/>
                <a:alphaOff val="0"/>
                <a:tint val="98000"/>
                <a:lumMod val="110000"/>
              </a:schemeClr>
            </a:gs>
            <a:gs pos="84000">
              <a:schemeClr val="accent5">
                <a:hueOff val="439570"/>
                <a:satOff val="-3135"/>
                <a:lumOff val="-5686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439570"/>
              <a:satOff val="-3135"/>
              <a:lumOff val="-5686"/>
              <a:alphaOff val="0"/>
            </a:schemeClr>
          </a:solidFill>
          <a:prstDash val="solid"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A48D4E7-A97E-6D49-A2EB-39C716F31B47}">
      <dsp:nvSpPr>
        <dsp:cNvPr id="0" name=""/>
        <dsp:cNvSpPr/>
      </dsp:nvSpPr>
      <dsp:spPr>
        <a:xfrm>
          <a:off x="0" y="1029793"/>
          <a:ext cx="6713552" cy="102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Helvetica" pitchFamily="2" charset="0"/>
            </a:rPr>
            <a:t>Key metrics include </a:t>
          </a:r>
          <a:r>
            <a:rPr lang="en-US" sz="1700" b="1" kern="1200" dirty="0">
              <a:latin typeface="Helvetica" pitchFamily="2" charset="0"/>
            </a:rPr>
            <a:t>Units Sold, Sales, Profit, and Discounts, alongside categorical variables like Segment, Country, and Discount Band</a:t>
          </a:r>
          <a:r>
            <a:rPr lang="en-US" sz="1700" kern="1200" dirty="0">
              <a:latin typeface="Helvetica" pitchFamily="2" charset="0"/>
            </a:rPr>
            <a:t>. </a:t>
          </a:r>
        </a:p>
      </dsp:txBody>
      <dsp:txXfrm>
        <a:off x="0" y="1029793"/>
        <a:ext cx="6713552" cy="1029793"/>
      </dsp:txXfrm>
    </dsp:sp>
    <dsp:sp modelId="{4485A606-4E18-EE4B-8894-991B8EF3E7B4}">
      <dsp:nvSpPr>
        <dsp:cNvPr id="0" name=""/>
        <dsp:cNvSpPr/>
      </dsp:nvSpPr>
      <dsp:spPr>
        <a:xfrm>
          <a:off x="0" y="2059585"/>
          <a:ext cx="6713552" cy="0"/>
        </a:xfrm>
        <a:prstGeom prst="line">
          <a:avLst/>
        </a:prstGeom>
        <a:gradFill rotWithShape="0">
          <a:gsLst>
            <a:gs pos="0">
              <a:schemeClr val="accent5">
                <a:hueOff val="879139"/>
                <a:satOff val="-6269"/>
                <a:lumOff val="-11373"/>
                <a:alphaOff val="0"/>
                <a:tint val="98000"/>
                <a:lumMod val="110000"/>
              </a:schemeClr>
            </a:gs>
            <a:gs pos="84000">
              <a:schemeClr val="accent5">
                <a:hueOff val="879139"/>
                <a:satOff val="-6269"/>
                <a:lumOff val="-11373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879139"/>
              <a:satOff val="-6269"/>
              <a:lumOff val="-11373"/>
              <a:alphaOff val="0"/>
            </a:schemeClr>
          </a:solidFill>
          <a:prstDash val="solid"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ABAE3AE-AE41-5545-B058-E20CD978F1A2}">
      <dsp:nvSpPr>
        <dsp:cNvPr id="0" name=""/>
        <dsp:cNvSpPr/>
      </dsp:nvSpPr>
      <dsp:spPr>
        <a:xfrm>
          <a:off x="0" y="2059586"/>
          <a:ext cx="6713552" cy="102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Helvetica" pitchFamily="2" charset="0"/>
            </a:rPr>
            <a:t>However, critical numeric columns, such as Sales and Profit, have significant missing data, which may limit insights. </a:t>
          </a:r>
        </a:p>
      </dsp:txBody>
      <dsp:txXfrm>
        <a:off x="0" y="2059586"/>
        <a:ext cx="6713552" cy="1029793"/>
      </dsp:txXfrm>
    </dsp:sp>
    <dsp:sp modelId="{B73E3DF6-39B8-5F4D-9D62-E3DCB363036B}">
      <dsp:nvSpPr>
        <dsp:cNvPr id="0" name=""/>
        <dsp:cNvSpPr/>
      </dsp:nvSpPr>
      <dsp:spPr>
        <a:xfrm>
          <a:off x="0" y="3089378"/>
          <a:ext cx="6713552" cy="0"/>
        </a:xfrm>
        <a:prstGeom prst="line">
          <a:avLst/>
        </a:prstGeom>
        <a:gradFill rotWithShape="0">
          <a:gsLst>
            <a:gs pos="0">
              <a:schemeClr val="accent5">
                <a:hueOff val="1318709"/>
                <a:satOff val="-9404"/>
                <a:lumOff val="-17059"/>
                <a:alphaOff val="0"/>
                <a:tint val="98000"/>
                <a:lumMod val="110000"/>
              </a:schemeClr>
            </a:gs>
            <a:gs pos="84000">
              <a:schemeClr val="accent5">
                <a:hueOff val="1318709"/>
                <a:satOff val="-9404"/>
                <a:lumOff val="-17059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1318709"/>
              <a:satOff val="-9404"/>
              <a:lumOff val="-17059"/>
              <a:alphaOff val="0"/>
            </a:schemeClr>
          </a:solidFill>
          <a:prstDash val="solid"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5500DC1-80AB-7D48-9F28-EC6B98B274C3}">
      <dsp:nvSpPr>
        <dsp:cNvPr id="0" name=""/>
        <dsp:cNvSpPr/>
      </dsp:nvSpPr>
      <dsp:spPr>
        <a:xfrm>
          <a:off x="0" y="3089379"/>
          <a:ext cx="6713552" cy="102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Helvetica" pitchFamily="2" charset="0"/>
            </a:rPr>
            <a:t>The dataset provides a foundation for analyzing trends, profitability, and regional performance, but addressing missing data will be crucial for meaningful analysis. This data can help identify high-performing segments and inform strategic decisions.</a:t>
          </a:r>
        </a:p>
      </dsp:txBody>
      <dsp:txXfrm>
        <a:off x="0" y="3089379"/>
        <a:ext cx="6713552" cy="10297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76517-7F2C-43B6-ABAE-34145DA4DDB3}">
      <dsp:nvSpPr>
        <dsp:cNvPr id="0" name=""/>
        <dsp:cNvSpPr/>
      </dsp:nvSpPr>
      <dsp:spPr>
        <a:xfrm>
          <a:off x="790942" y="786345"/>
          <a:ext cx="1069592" cy="10695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94D99-E938-4670-A4E8-91495F31013B}">
      <dsp:nvSpPr>
        <dsp:cNvPr id="0" name=""/>
        <dsp:cNvSpPr/>
      </dsp:nvSpPr>
      <dsp:spPr>
        <a:xfrm>
          <a:off x="137302" y="2171892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There are 66</a:t>
          </a:r>
          <a:r>
            <a:rPr lang="en-US" sz="1200" b="1" kern="1200" dirty="0"/>
            <a:t> outliers in the Profit column</a:t>
          </a:r>
          <a:r>
            <a:rPr lang="en-US" sz="1200" kern="1200" dirty="0"/>
            <a:t>, which need to be addressed to ensure accurate analysis.</a:t>
          </a:r>
        </a:p>
      </dsp:txBody>
      <dsp:txXfrm>
        <a:off x="137302" y="2171892"/>
        <a:ext cx="2376871" cy="720000"/>
      </dsp:txXfrm>
    </dsp:sp>
    <dsp:sp modelId="{F6BE2B37-DC67-4A4A-B1E8-313800CD8734}">
      <dsp:nvSpPr>
        <dsp:cNvPr id="0" name=""/>
        <dsp:cNvSpPr/>
      </dsp:nvSpPr>
      <dsp:spPr>
        <a:xfrm>
          <a:off x="3583766" y="786345"/>
          <a:ext cx="1069592" cy="10695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B647C-BF6B-46D6-A2C7-4F83AD6974F1}">
      <dsp:nvSpPr>
        <dsp:cNvPr id="0" name=""/>
        <dsp:cNvSpPr/>
      </dsp:nvSpPr>
      <dsp:spPr>
        <a:xfrm>
          <a:off x="2930126" y="2171892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</a:t>
          </a:r>
          <a:r>
            <a:rPr lang="en-US" sz="1200" b="1" kern="1200" dirty="0"/>
            <a:t>Discounts column is stored as strings</a:t>
          </a:r>
          <a:r>
            <a:rPr lang="en-US" sz="1200" kern="1200" dirty="0"/>
            <a:t>, like $-, making it unusable for calculations without cleaning.</a:t>
          </a:r>
        </a:p>
      </dsp:txBody>
      <dsp:txXfrm>
        <a:off x="2930126" y="2171892"/>
        <a:ext cx="2376871" cy="720000"/>
      </dsp:txXfrm>
    </dsp:sp>
    <dsp:sp modelId="{73092877-2CDA-478E-AC4E-888A2C9F5220}">
      <dsp:nvSpPr>
        <dsp:cNvPr id="0" name=""/>
        <dsp:cNvSpPr/>
      </dsp:nvSpPr>
      <dsp:spPr>
        <a:xfrm>
          <a:off x="6376591" y="786345"/>
          <a:ext cx="1069592" cy="10695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50C14-8D53-414A-931D-072FD085332A}">
      <dsp:nvSpPr>
        <dsp:cNvPr id="0" name=""/>
        <dsp:cNvSpPr/>
      </dsp:nvSpPr>
      <dsp:spPr>
        <a:xfrm>
          <a:off x="5722951" y="2171892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 noticed redundancy in the </a:t>
          </a:r>
          <a:r>
            <a:rPr lang="en-US" sz="1200" b="1" kern="1200" dirty="0"/>
            <a:t>Date, Month Number, and Month Name columns</a:t>
          </a:r>
          <a:r>
            <a:rPr lang="en-US" sz="1200" kern="1200" dirty="0"/>
            <a:t>, which need validation for consistency.</a:t>
          </a:r>
        </a:p>
      </dsp:txBody>
      <dsp:txXfrm>
        <a:off x="5722951" y="2171892"/>
        <a:ext cx="2376871" cy="720000"/>
      </dsp:txXfrm>
    </dsp:sp>
    <dsp:sp modelId="{7D02141C-A4B3-409F-BA1F-028169EB80A1}">
      <dsp:nvSpPr>
        <dsp:cNvPr id="0" name=""/>
        <dsp:cNvSpPr/>
      </dsp:nvSpPr>
      <dsp:spPr>
        <a:xfrm>
          <a:off x="9169415" y="786345"/>
          <a:ext cx="1069592" cy="10695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B6EC4-98BE-4262-8EF8-24DBB2D8BA56}">
      <dsp:nvSpPr>
        <dsp:cNvPr id="0" name=""/>
        <dsp:cNvSpPr/>
      </dsp:nvSpPr>
      <dsp:spPr>
        <a:xfrm>
          <a:off x="8515775" y="2171892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There are potential </a:t>
          </a:r>
          <a:r>
            <a:rPr lang="en-US" sz="1200" b="1" kern="1200" dirty="0"/>
            <a:t>outliers in Profit and Sales</a:t>
          </a:r>
          <a:r>
            <a:rPr lang="en-US" sz="1200" kern="1200" dirty="0"/>
            <a:t>, which need further investigation to prevent skewed results.</a:t>
          </a:r>
        </a:p>
      </dsp:txBody>
      <dsp:txXfrm>
        <a:off x="8515775" y="2171892"/>
        <a:ext cx="2376871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4F1133-E82A-42E5-97A1-ED9F07373F97}">
      <dsp:nvSpPr>
        <dsp:cNvPr id="0" name=""/>
        <dsp:cNvSpPr/>
      </dsp:nvSpPr>
      <dsp:spPr>
        <a:xfrm>
          <a:off x="6409" y="67936"/>
          <a:ext cx="1458532" cy="14585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6889DB-AB7A-4CA1-8227-189EC5758E9D}">
      <dsp:nvSpPr>
        <dsp:cNvPr id="0" name=""/>
        <dsp:cNvSpPr/>
      </dsp:nvSpPr>
      <dsp:spPr>
        <a:xfrm>
          <a:off x="312701" y="374227"/>
          <a:ext cx="845948" cy="8459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7ADF1-7545-4FD6-8005-3328599E0CEB}">
      <dsp:nvSpPr>
        <dsp:cNvPr id="0" name=""/>
        <dsp:cNvSpPr/>
      </dsp:nvSpPr>
      <dsp:spPr>
        <a:xfrm>
          <a:off x="1777484" y="67936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How it works</a:t>
          </a:r>
          <a:r>
            <a:rPr lang="en-US" sz="2200" kern="1200"/>
            <a:t>: Splits data into segments (e.g., high Sale Price vs. low Sale Price) and makes predictions based on group averages.</a:t>
          </a:r>
        </a:p>
      </dsp:txBody>
      <dsp:txXfrm>
        <a:off x="1777484" y="67936"/>
        <a:ext cx="3437969" cy="1458532"/>
      </dsp:txXfrm>
    </dsp:sp>
    <dsp:sp modelId="{E3394BF1-1BAC-458D-A5FA-C32FFBC6E38A}">
      <dsp:nvSpPr>
        <dsp:cNvPr id="0" name=""/>
        <dsp:cNvSpPr/>
      </dsp:nvSpPr>
      <dsp:spPr>
        <a:xfrm>
          <a:off x="5814495" y="67936"/>
          <a:ext cx="1458532" cy="14585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9FA29-B0F1-4D42-80AF-488FDB1149EC}">
      <dsp:nvSpPr>
        <dsp:cNvPr id="0" name=""/>
        <dsp:cNvSpPr/>
      </dsp:nvSpPr>
      <dsp:spPr>
        <a:xfrm>
          <a:off x="6120786" y="374227"/>
          <a:ext cx="845948" cy="8459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9963A-007A-4D09-99C0-CC4044CE9F1B}">
      <dsp:nvSpPr>
        <dsp:cNvPr id="0" name=""/>
        <dsp:cNvSpPr/>
      </dsp:nvSpPr>
      <dsp:spPr>
        <a:xfrm>
          <a:off x="7585570" y="67936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Performance</a:t>
          </a:r>
          <a:r>
            <a:rPr lang="en-US" sz="2200" kern="1200"/>
            <a:t>: Best model with an average error of $921K.</a:t>
          </a:r>
        </a:p>
      </dsp:txBody>
      <dsp:txXfrm>
        <a:off x="7585570" y="67936"/>
        <a:ext cx="3437969" cy="1458532"/>
      </dsp:txXfrm>
    </dsp:sp>
    <dsp:sp modelId="{5DFE05C1-409A-4B80-A004-BD0311917E22}">
      <dsp:nvSpPr>
        <dsp:cNvPr id="0" name=""/>
        <dsp:cNvSpPr/>
      </dsp:nvSpPr>
      <dsp:spPr>
        <a:xfrm>
          <a:off x="6409" y="2151769"/>
          <a:ext cx="1458532" cy="14585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8EDF8-D5F8-4B4E-BAC3-30C3413D228D}">
      <dsp:nvSpPr>
        <dsp:cNvPr id="0" name=""/>
        <dsp:cNvSpPr/>
      </dsp:nvSpPr>
      <dsp:spPr>
        <a:xfrm>
          <a:off x="312701" y="2458061"/>
          <a:ext cx="845948" cy="8459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880BA-22BD-485D-B328-A5B3BECF5446}">
      <dsp:nvSpPr>
        <dsp:cNvPr id="0" name=""/>
        <dsp:cNvSpPr/>
      </dsp:nvSpPr>
      <dsp:spPr>
        <a:xfrm>
          <a:off x="1777484" y="2151769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Captures complex patterns, such as how high Sale Price with low COGS leads to better profits.</a:t>
          </a:r>
        </a:p>
      </dsp:txBody>
      <dsp:txXfrm>
        <a:off x="1777484" y="2151769"/>
        <a:ext cx="3437969" cy="1458532"/>
      </dsp:txXfrm>
    </dsp:sp>
    <dsp:sp modelId="{97EBDE58-52BA-40B3-AA1F-BDCFEF894CCC}">
      <dsp:nvSpPr>
        <dsp:cNvPr id="0" name=""/>
        <dsp:cNvSpPr/>
      </dsp:nvSpPr>
      <dsp:spPr>
        <a:xfrm>
          <a:off x="5814495" y="2151769"/>
          <a:ext cx="1458532" cy="14585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A49C4-4942-4675-800A-F2D26B3133C2}">
      <dsp:nvSpPr>
        <dsp:cNvPr id="0" name=""/>
        <dsp:cNvSpPr/>
      </dsp:nvSpPr>
      <dsp:spPr>
        <a:xfrm>
          <a:off x="6120786" y="2458061"/>
          <a:ext cx="845948" cy="8459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85910-7D89-4C78-A51D-854AA4AA9B07}">
      <dsp:nvSpPr>
        <dsp:cNvPr id="0" name=""/>
        <dsp:cNvSpPr/>
      </dsp:nvSpPr>
      <dsp:spPr>
        <a:xfrm>
          <a:off x="7585570" y="2151769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Result</a:t>
          </a:r>
          <a:r>
            <a:rPr lang="en-US" sz="2200" kern="1200"/>
            <a:t>: Handles variations in the data well, such as profit differences across products or countries.</a:t>
          </a:r>
        </a:p>
      </dsp:txBody>
      <dsp:txXfrm>
        <a:off x="7585570" y="2151769"/>
        <a:ext cx="3437969" cy="14585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E8F14C-159B-4A08-92B1-340A63910CAA}">
      <dsp:nvSpPr>
        <dsp:cNvPr id="0" name=""/>
        <dsp:cNvSpPr/>
      </dsp:nvSpPr>
      <dsp:spPr>
        <a:xfrm>
          <a:off x="790942" y="786345"/>
          <a:ext cx="1069592" cy="10695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A000F-D3A7-48DC-BFF3-669E45CC1469}">
      <dsp:nvSpPr>
        <dsp:cNvPr id="0" name=""/>
        <dsp:cNvSpPr/>
      </dsp:nvSpPr>
      <dsp:spPr>
        <a:xfrm>
          <a:off x="137302" y="2171892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How it works</a:t>
          </a:r>
          <a:r>
            <a:rPr lang="en-US" sz="1300" kern="1200"/>
            <a:t>: Predicts Profit by averaging the profits of similar past sales (e.g., items with similar Units Sold and Sale Price).</a:t>
          </a:r>
        </a:p>
      </dsp:txBody>
      <dsp:txXfrm>
        <a:off x="137302" y="2171892"/>
        <a:ext cx="2376871" cy="720000"/>
      </dsp:txXfrm>
    </dsp:sp>
    <dsp:sp modelId="{C9445EE0-A7BE-4327-AD85-E4B315B1DD3F}">
      <dsp:nvSpPr>
        <dsp:cNvPr id="0" name=""/>
        <dsp:cNvSpPr/>
      </dsp:nvSpPr>
      <dsp:spPr>
        <a:xfrm>
          <a:off x="3583766" y="786345"/>
          <a:ext cx="1069592" cy="10695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8954F-FF6E-4931-AE70-CB5F9C8B5E24}">
      <dsp:nvSpPr>
        <dsp:cNvPr id="0" name=""/>
        <dsp:cNvSpPr/>
      </dsp:nvSpPr>
      <dsp:spPr>
        <a:xfrm>
          <a:off x="2930126" y="2171892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Performance</a:t>
          </a:r>
          <a:r>
            <a:rPr lang="en-US" sz="1300" kern="1200"/>
            <a:t>: Moderately accurate with errors around $1M.</a:t>
          </a:r>
        </a:p>
      </dsp:txBody>
      <dsp:txXfrm>
        <a:off x="2930126" y="2171892"/>
        <a:ext cx="2376871" cy="720000"/>
      </dsp:txXfrm>
    </dsp:sp>
    <dsp:sp modelId="{3A4850AF-8BA7-4D53-A13C-8D51818CFAA4}">
      <dsp:nvSpPr>
        <dsp:cNvPr id="0" name=""/>
        <dsp:cNvSpPr/>
      </dsp:nvSpPr>
      <dsp:spPr>
        <a:xfrm>
          <a:off x="6376591" y="786345"/>
          <a:ext cx="1069592" cy="10695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A6252-96DE-4E06-A0DA-12FE95BA9B97}">
      <dsp:nvSpPr>
        <dsp:cNvPr id="0" name=""/>
        <dsp:cNvSpPr/>
      </dsp:nvSpPr>
      <dsp:spPr>
        <a:xfrm>
          <a:off x="5722951" y="2171892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Works well in cases with consistent data but struggles with outliers or unusual combinations.</a:t>
          </a:r>
        </a:p>
      </dsp:txBody>
      <dsp:txXfrm>
        <a:off x="5722951" y="2171892"/>
        <a:ext cx="2376871" cy="720000"/>
      </dsp:txXfrm>
    </dsp:sp>
    <dsp:sp modelId="{2953B536-746F-4455-92EB-48D4401968D5}">
      <dsp:nvSpPr>
        <dsp:cNvPr id="0" name=""/>
        <dsp:cNvSpPr/>
      </dsp:nvSpPr>
      <dsp:spPr>
        <a:xfrm>
          <a:off x="9169415" y="786345"/>
          <a:ext cx="1069592" cy="10695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5AF66-CDC2-4DC1-837C-DFD278DE6318}">
      <dsp:nvSpPr>
        <dsp:cNvPr id="0" name=""/>
        <dsp:cNvSpPr/>
      </dsp:nvSpPr>
      <dsp:spPr>
        <a:xfrm>
          <a:off x="8515775" y="2171892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Result</a:t>
          </a:r>
          <a:r>
            <a:rPr lang="en-US" sz="1300" kern="1200"/>
            <a:t>: Slightly less accurate than Decision Tree but still a reasonable predictor.</a:t>
          </a:r>
        </a:p>
      </dsp:txBody>
      <dsp:txXfrm>
        <a:off x="8515775" y="2171892"/>
        <a:ext cx="237687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9:58:54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24575,'0'14'0,"0"-1"0,0 3 0,0-5 0,0 10 0,0-5 0,0 6 0,0 6 0,0 2 0,0 6 0,0 7 0,0-5 0,0 13 0,0-6 0,0 0 0,0-2 0,0-7 0,0 8 0,0-13 0,0 11 0,0-12 0,0 6 0,0 0 0,0 0 0,0-6 0,0 12 0,0-17 0,0 17 0,0-5 0,0-5 0,0 10 0,0-13 0,0 7 0,0-6 0,0 5 0,0-12 0,0 5 0,0-6 0,0 0 0,0 0 0,0 0 0,0 0 0,5 0 0,-4 0 0,4 0 0,1 6 0,0 2 0,1 6 0,4 0 0,-10 0 0,4-6 0,1 5 0,-5-12 0,4 12 0,-5-17 0,5 9 0,-4-11 0,4 6 0,0 0 0,-4 0 0,4-5 0,-5 3 0,0-8 0,5 8 0,-4-9 0,4 5 0,-5-6 0,5 0 0,-4 0 0,3 5 0,1-4 0,-4 4 0,3 1 0,1-5 0,-4 4 0,3-5 0,0 0 0,-2 0 0,6 0 0,-7 0 0,4 0 0,-1 0 0,-3-1 0,8-3 0,-8 2 0,8-7 0,-8 8 0,8-8 0,-8 8 0,7-8 0,-7 8 0,8-8 0,-4 8 0,5-8 0,-1 7 0,0-7 0,0 3 0,1 1 0,-1-4 0,1 7 0,0-6 0,0 2 0,-1 0 0,1-3 0,0 8 0,0-8 0,0 8 0,-1-8 0,1 4 0,0-5 0,0 4 0,0-3 0,-1 4 0,1-1 0,0-3 0,-1 3 0,-3 0 0,3-3 0,-4 4 0,5-1 0,0-3 0,-1 3 0,1-4 0,0 0 0,-1 4 0,1-3 0,0 4 0,-1-1 0,1-3 0,-1 3 0,1-4 0,-1 0 0,1 0 0,0 0 0,-1 4 0,1-3 0,-1 3 0,1 0 0,-1-3 0,0 4 0,0-1 0,1-3 0,-1 3 0,0-4 0,0 0 0,0 0 0,1 0 0,-1 0 0,0 4 0,0-3 0,0 3 0,1-4 0,-1 0 0,0 0 0,0 0 0,0 0 0,-4-4 0,-1-1 0,-4-5 0,0 1 0,0-1 0,4 5 0,-3-4 0,3 4 0,-4-4 0,0-1 0,0 1 0,0 0 0,0-1 0,0 1 0,0 0 0,0-1 0,0 1 0,4 4 0,-3-4 0,4 4 0,-5-5 0,4 1 0,-3-1 0,3 1 0,0 4 0,-3-4 0,3 4 0,-4-5 0,0 1 0,5 4 0,-4-4 0,3 4 0,-4-4 0,4-1 0,-3 1 0,4-1 0,-1 5 0,-3-4 0,4 4 0,-5-5 0,0 1 0,4-1 0,-3 1 0,3-1 0,-4 1 0,4 3 0,-3-3 0,4 4 0,-1-5 0,-3 1 0,3-1 0,1 0 0,-4 0 0,3 0 0,0-1 0,-2 2 0,2-1 0,-4 0 0,4 4 0,-3-3 0,4 4 0,-5-5 0,0 0 0,0 0 0,4 4 0,-3-3 0,4 3 0,-5-4 0,4 0 0,-3 0 0,3 1 0,-4-1 0,0 0 0,0-1 0,0 2 0,5-1 0,-4 0 0,3-5 0,-4 4 0,0-5 0,0 6 0,0-5 0,0 3 0,0-3 0,0-1 0,0 5 0,0-10 0,0 10 0,0-10 0,0 4 0,0-5 0,0 0 0,0 5 0,0-3 0,0 3 0,0 0 0,0-4 0,0 10 0,0-10 0,0 4 0,0 1 0,0-5 0,0 4 0,0 0 0,0-3 0,0 3 0,0-5 0,0 0 0,0 0 0,0 0 0,0-1 0,0-5 0,0 4 0,0-4 0,0 6 0,-5 0 0,4 0 0,-4 0 0,5 0 0,0-1 0,-5 1 0,4 6 0,-4-5 0,0 4 0,4-5 0,-4 5 0,0-4 0,3 5 0,-2-1 0,-1-4 0,3 10 0,-3-10 0,5 10 0,-5-10 0,4 9 0,-4-8 0,1 8 0,3-9 0,-4 10 0,5-10 0,0 10 0,-5-10 0,4 10 0,-9-10 0,9 4 0,-4 0 0,0-3 0,4 8 0,-9-8 0,9 8 0,-9-9 0,9 10 0,-4-4 0,0-1 0,3 5 0,-7-10 0,7 10 0,-8-10 0,9 9 0,-8-3 0,8 0 0,-8 3 0,8-3 0,-8 5 0,3 0 0,0-1 0,-3 1 0,8 0 0,-8 0 0,4 0 0,-5 5 0,0-4 0,4 3 0,-3 0 0,4-2 0,-6 6 0,1-7 0,0 8 0,0-8 0,0 8 0,0-3 0,0-1 0,0 4 0,0-3 0,0 4 0,0 0 0,0 0 0,0 0 0,0 0 0,0 0 0,0 0 0,0 0 0,0 0 0,0 0 0,-6 0 0,5 0 0,-5 0 0,6 0 0,0 0 0,0 0 0,0 0 0,0 0 0,0 0 0,0 0 0,0 0 0,0 0 0,0 0 0,0 0 0,0 0 0,0 0 0,-1 0 0,1 0 0,0 0 0,0 0 0,0 0 0,0 0 0,0 0 0,0 0 0,-5 0 0,3 0 0,-3 0 0,5 0 0,0 0 0,-6 0 0,5 0 0,-5 0 0,6 0 0,0 0 0,0 0 0,0 0 0,0 0 0,0 0 0,0 0 0,1 0 0,-1 0 0,0 0 0,0 0 0,5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9:59:07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DA5E1-C759-9D46-A34B-A806B3A3A4D7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A7758-EE36-3845-ACD2-8B2863788B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7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A7758-EE36-3845-ACD2-8B2863788B0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95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90721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59229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6453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53511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35122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699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51391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0517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57514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04312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03738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7B0585C-5623-6D43-B667-C8FDB0715A2D}" type="datetimeFigureOut">
              <a:rPr lang="en-US" smtClean="0"/>
              <a:t>12/8/24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4B5A199-50C0-4140-B197-F2B9F6666D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4106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ransition spd="slow">
    <p:push dir="u"/>
  </p:transition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E3AAE6-5CFA-CF74-296D-84E8A125E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542" y="1005839"/>
            <a:ext cx="6432313" cy="4805025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Final Project PPT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E8C34-4E48-525C-845C-C98E93698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5391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By Dhruv Khanna</a:t>
            </a:r>
          </a:p>
        </p:txBody>
      </p:sp>
    </p:spTree>
    <p:extLst>
      <p:ext uri="{BB962C8B-B14F-4D97-AF65-F5344CB8AC3E}">
        <p14:creationId xmlns:p14="http://schemas.microsoft.com/office/powerpoint/2010/main" val="22749771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FA25-D21B-399F-DDAD-384B53E0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Dataset Overview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FC77BEF0-D834-53ED-16E8-C262B8FEC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9640338"/>
              </p:ext>
            </p:extLst>
          </p:nvPr>
        </p:nvGraphicFramePr>
        <p:xfrm>
          <a:off x="572493" y="2071316"/>
          <a:ext cx="6713552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" name="Picture 19" descr="Financial graphs on a dark display">
            <a:extLst>
              <a:ext uri="{FF2B5EF4-FFF2-40B4-BE49-F238E27FC236}">
                <a16:creationId xmlns:a16="http://schemas.microsoft.com/office/drawing/2014/main" id="{E5C47F62-FF7B-39B6-216F-1654F47311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712" r="22160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4545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9688C-1CB6-9B77-DD61-41CF75E1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Target Attribute: </a:t>
            </a:r>
            <a:r>
              <a:rPr lang="en-US" sz="5400" b="1" i="1" dirty="0">
                <a:solidFill>
                  <a:srgbClr val="FFFFFF"/>
                </a:solidFill>
              </a:rPr>
              <a:t>Profit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6B5CF3A2-9B3C-80D2-AAE2-BE46F5F8D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The target attribute </a:t>
            </a: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"Profit"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 is a critical financial metric that measures the net financial gain for the company. Below are its key characteristics: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Definition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: Profit is calculated as the difference between Sales (revenue after discounts) and COGS (Cost of Goods Sold).</a:t>
            </a:r>
            <a:b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</a:b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Profit=Sales−COGS\text{Profit} = \text{Sales} - \text{COGS}Profit=Sales−COGS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Nature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: It is a continuous numeric variable representing monetary value (e.g., dollars).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Dependencies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Influenced by Sales, which depends on factors like pricing and discount policies.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Directly impacted by COGS, reflecting production or procurement costs.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Indirectly affected by the Discount Band, as higher discounts can reduce profit margins.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Business Insights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A positive profit indicates efficient cost and sales management.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Negative or low profits may highlight areas for improvement, such as pricing, discounts, or cost optimization.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Challenges</a:t>
            </a: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: The Profit column has many complete missing values, making data imputation or alternative strategies essential for analysis.</a:t>
            </a:r>
          </a:p>
          <a:p>
            <a:pPr>
              <a:lnSpc>
                <a:spcPct val="90000"/>
              </a:lnSpc>
            </a:pPr>
            <a:r>
              <a:rPr lang="en-US" sz="10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Understanding and optimizing profit is vital for driving strategic decisions and improving overall business performance.</a:t>
            </a:r>
          </a:p>
          <a:p>
            <a:pPr>
              <a:lnSpc>
                <a:spcPct val="90000"/>
              </a:lnSpc>
            </a:pPr>
            <a:endParaRPr lang="en-US" sz="1000" dirty="0">
              <a:solidFill>
                <a:schemeClr val="accent2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12972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54A425D-9851-4FBF-A508-E4CBEF4B1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0C0675-A7D1-41EA-A144-F8DA77B97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84446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92AB83-2601-4041-BF0F-F4F0F5C7D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84446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62AB49-2F5E-4C38-82CC-F653510B0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80889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6F8AD6-7C47-45FC-875C-65D6B1E55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4757866"/>
            <a:ext cx="11309338" cy="16566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07C66-1239-6E94-EFBB-7E98AA6F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845617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Problems in the Data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E5B1100-AE6E-D6BA-F8A5-35571C99B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4045417"/>
              </p:ext>
            </p:extLst>
          </p:nvPr>
        </p:nvGraphicFramePr>
        <p:xfrm>
          <a:off x="581025" y="728488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82457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97853-1F1A-3542-0A92-3A596224C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42" y="1005839"/>
            <a:ext cx="6432313" cy="480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Data Cleaning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8719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4B7F-A34A-0793-FB75-1783075F8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 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887BD75A-C9D2-27C6-66B8-823EF4AC0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3490" y="2471401"/>
            <a:ext cx="3060700" cy="309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018BCB-3C16-44AD-BB71-CFBA8FBE51C0}"/>
              </a:ext>
            </a:extLst>
          </p:cNvPr>
          <p:cNvSpPr txBox="1"/>
          <p:nvPr/>
        </p:nvSpPr>
        <p:spPr>
          <a:xfrm>
            <a:off x="1513490" y="2102069"/>
            <a:ext cx="89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F17A79-1023-3EF5-825D-BED17BE74FA6}"/>
              </a:ext>
            </a:extLst>
          </p:cNvPr>
          <p:cNvSpPr txBox="1"/>
          <p:nvPr/>
        </p:nvSpPr>
        <p:spPr>
          <a:xfrm>
            <a:off x="7758463" y="2102069"/>
            <a:ext cx="729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After: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4DCF9BE4-C18E-9945-E666-DB272F139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463" y="2496801"/>
            <a:ext cx="3064565" cy="3073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2F08CE-1F47-036C-11FD-6290987B2962}"/>
              </a:ext>
            </a:extLst>
          </p:cNvPr>
          <p:cNvSpPr txBox="1"/>
          <p:nvPr/>
        </p:nvSpPr>
        <p:spPr>
          <a:xfrm>
            <a:off x="5239485" y="2127469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used</a:t>
            </a:r>
          </a:p>
        </p:txBody>
      </p:sp>
      <p:pic>
        <p:nvPicPr>
          <p:cNvPr id="13" name="Picture 12" descr="A close up of a sign&#10;&#10;Description automatically generated">
            <a:extLst>
              <a:ext uri="{FF2B5EF4-FFF2-40B4-BE49-F238E27FC236}">
                <a16:creationId xmlns:a16="http://schemas.microsoft.com/office/drawing/2014/main" id="{A477A7CC-3448-63B8-EE74-1EF31E5CB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831" y="3146972"/>
            <a:ext cx="1994337" cy="56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5213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D642-6A45-76D8-2ABB-E872D955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Mutation(Discount)</a:t>
            </a:r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1686A40-CC95-9E53-AFEA-FE2CA7927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3052"/>
            <a:ext cx="5525700" cy="2015982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8295970-C8D5-0F5F-D947-0304DA23057A}"/>
                  </a:ext>
                </a:extLst>
              </p14:cNvPr>
              <p14:cNvContentPartPr/>
              <p14:nvPr/>
            </p14:nvContentPartPr>
            <p14:xfrm>
              <a:off x="3845847" y="2216913"/>
              <a:ext cx="343440" cy="834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8295970-C8D5-0F5F-D947-0304DA2305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6847" y="2208273"/>
                <a:ext cx="36108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AA4FE02-96E5-942B-72A6-03FD4D75BE6C}"/>
                  </a:ext>
                </a:extLst>
              </p14:cNvPr>
              <p14:cNvContentPartPr/>
              <p14:nvPr/>
            </p14:nvContentPartPr>
            <p14:xfrm>
              <a:off x="2569647" y="-312087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AA4FE02-96E5-942B-72A6-03FD4D75BE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1007" y="-32072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9FA474F-AE81-D77E-557A-9FFE8528A939}"/>
              </a:ext>
            </a:extLst>
          </p:cNvPr>
          <p:cNvSpPr txBox="1"/>
          <p:nvPr/>
        </p:nvSpPr>
        <p:spPr>
          <a:xfrm>
            <a:off x="914400" y="4435366"/>
            <a:ext cx="5525700" cy="173893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en-US" dirty="0"/>
              <a:t>Discount has ‘$-’ </a:t>
            </a:r>
            <a:br>
              <a:rPr lang="en-US" dirty="0"/>
            </a:br>
            <a:r>
              <a:rPr lang="en-US" sz="17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df['Discounts']=df['Discounts'].str.replace('$','',regex=False)</a:t>
            </a:r>
          </a:p>
          <a:p>
            <a:r>
              <a:rPr lang="en-US" dirty="0"/>
              <a:t>This code was used to clean the data and</a:t>
            </a:r>
          </a:p>
          <a:p>
            <a:r>
              <a:rPr lang="en-US" dirty="0" err="1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df.fillna</a:t>
            </a:r>
            <a:r>
              <a:rPr lang="en-US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(0, inplace=True) </a:t>
            </a:r>
            <a:r>
              <a:rPr lang="en-US" dirty="0"/>
              <a:t>this code was used to fill the missing values</a:t>
            </a:r>
          </a:p>
          <a:p>
            <a:r>
              <a:rPr lang="en-US" dirty="0"/>
              <a:t>the output is on the right side</a:t>
            </a:r>
          </a:p>
        </p:txBody>
      </p:sp>
      <p:pic>
        <p:nvPicPr>
          <p:cNvPr id="17" name="Picture 16" descr="A screenshot of a calculator&#10;&#10;Description automatically generated">
            <a:extLst>
              <a:ext uri="{FF2B5EF4-FFF2-40B4-BE49-F238E27FC236}">
                <a16:creationId xmlns:a16="http://schemas.microsoft.com/office/drawing/2014/main" id="{F7DED517-95C7-0349-FD6E-54328E2627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9494" y="1911926"/>
            <a:ext cx="3378200" cy="4340415"/>
          </a:xfrm>
          <a:prstGeom prst="rect">
            <a:avLst/>
          </a:prstGeom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896A1164-A135-7854-CFBC-1D90E3051756}"/>
              </a:ext>
            </a:extLst>
          </p:cNvPr>
          <p:cNvCxnSpPr>
            <a:cxnSpLocks/>
            <a:stCxn id="15" idx="2"/>
            <a:endCxn id="17" idx="3"/>
          </p:cNvCxnSpPr>
          <p:nvPr/>
        </p:nvCxnSpPr>
        <p:spPr>
          <a:xfrm rot="5400000" flipH="1" flipV="1">
            <a:off x="6256387" y="1502997"/>
            <a:ext cx="2092170" cy="7250444"/>
          </a:xfrm>
          <a:prstGeom prst="bentConnector4">
            <a:avLst>
              <a:gd name="adj1" fmla="val -14656"/>
              <a:gd name="adj2" fmla="val 103153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49432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2334-1DAC-D3D9-50BC-B521F681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Mutation ( Decimal points)</a:t>
            </a:r>
          </a:p>
        </p:txBody>
      </p:sp>
      <p:pic>
        <p:nvPicPr>
          <p:cNvPr id="11" name="Content Placeholder 10" descr="A screenshot of a sales report&#10;&#10;Description automatically generated">
            <a:extLst>
              <a:ext uri="{FF2B5EF4-FFF2-40B4-BE49-F238E27FC236}">
                <a16:creationId xmlns:a16="http://schemas.microsoft.com/office/drawing/2014/main" id="{C0549192-6C63-BE09-7BD6-18076075F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145" y="2146880"/>
            <a:ext cx="6032500" cy="17272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BD2EDC-D2AD-FAA6-4FBD-F8EAFFD6C2D3}"/>
              </a:ext>
            </a:extLst>
          </p:cNvPr>
          <p:cNvSpPr txBox="1"/>
          <p:nvPr/>
        </p:nvSpPr>
        <p:spPr>
          <a:xfrm>
            <a:off x="6966780" y="2615260"/>
            <a:ext cx="4644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Units sold, and discount are very odd figurers</a:t>
            </a:r>
          </a:p>
          <a:p>
            <a:r>
              <a:rPr lang="en-US" dirty="0"/>
              <a:t> and the numbers don’t make sense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0F3A40-EC3F-961F-B754-389BE1C81C3E}"/>
              </a:ext>
            </a:extLst>
          </p:cNvPr>
          <p:cNvSpPr txBox="1"/>
          <p:nvPr/>
        </p:nvSpPr>
        <p:spPr>
          <a:xfrm>
            <a:off x="249605" y="4073623"/>
            <a:ext cx="5194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Correcting the decimal points this code was used</a:t>
            </a:r>
          </a:p>
          <a:p>
            <a:r>
              <a:rPr lang="en-US" dirty="0"/>
              <a:t>df['Discounts'] = df['Discounts'] * 100</a:t>
            </a:r>
          </a:p>
          <a:p>
            <a:r>
              <a:rPr lang="en-US" dirty="0"/>
              <a:t>df['Units Sold'] = df['Units Sold'] / 100</a:t>
            </a:r>
          </a:p>
        </p:txBody>
      </p:sp>
      <p:pic>
        <p:nvPicPr>
          <p:cNvPr id="17" name="Picture 16" descr="A screenshot of a graph&#10;&#10;Description automatically generated">
            <a:extLst>
              <a:ext uri="{FF2B5EF4-FFF2-40B4-BE49-F238E27FC236}">
                <a16:creationId xmlns:a16="http://schemas.microsoft.com/office/drawing/2014/main" id="{0DA327DE-B278-CD3E-AE0A-32DA919DC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795" y="4096839"/>
            <a:ext cx="6070600" cy="2654300"/>
          </a:xfrm>
          <a:prstGeom prst="rect">
            <a:avLst/>
          </a:prstGeom>
        </p:spPr>
      </p:pic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48926112-949C-61EC-D9AA-5BA8638DADD1}"/>
              </a:ext>
            </a:extLst>
          </p:cNvPr>
          <p:cNvCxnSpPr>
            <a:cxnSpLocks/>
            <a:endCxn id="11" idx="3"/>
          </p:cNvCxnSpPr>
          <p:nvPr/>
        </p:nvCxnSpPr>
        <p:spPr>
          <a:xfrm rot="10800000">
            <a:off x="6216646" y="3010480"/>
            <a:ext cx="849173" cy="1345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88104A5-59FE-51C8-D36F-FA43FE2816D6}"/>
              </a:ext>
            </a:extLst>
          </p:cNvPr>
          <p:cNvSpPr txBox="1"/>
          <p:nvPr/>
        </p:nvSpPr>
        <p:spPr>
          <a:xfrm>
            <a:off x="249605" y="5286704"/>
            <a:ext cx="5656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output shows the data with correct numeric values </a:t>
            </a:r>
          </a:p>
          <a:p>
            <a:r>
              <a:rPr lang="en-US" dirty="0"/>
              <a:t>The units sold and sales now add up and make sense 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EEF4BF9D-B68E-78B5-F921-C9D73A7AF0EF}"/>
              </a:ext>
            </a:extLst>
          </p:cNvPr>
          <p:cNvCxnSpPr>
            <a:cxnSpLocks/>
          </p:cNvCxnSpPr>
          <p:nvPr/>
        </p:nvCxnSpPr>
        <p:spPr>
          <a:xfrm flipV="1">
            <a:off x="5213131" y="5717628"/>
            <a:ext cx="622455" cy="2154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82667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1062-6F97-CB79-99FE-46000A30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Outliers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FC7AB-D716-DC5D-6718-7820C060BCCC}"/>
              </a:ext>
            </a:extLst>
          </p:cNvPr>
          <p:cNvSpPr txBox="1"/>
          <p:nvPr/>
        </p:nvSpPr>
        <p:spPr>
          <a:xfrm>
            <a:off x="441434" y="1860331"/>
            <a:ext cx="4855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were 2 main variables that had outliers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Profit with 66 outliers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Sales with 5 outliers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FD881-131B-472B-50B6-FAFD5BF0DD13}"/>
              </a:ext>
            </a:extLst>
          </p:cNvPr>
          <p:cNvSpPr txBox="1"/>
          <p:nvPr/>
        </p:nvSpPr>
        <p:spPr>
          <a:xfrm>
            <a:off x="653468" y="2955932"/>
            <a:ext cx="500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were removed by using the IQR method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0DA45769-AEF9-8162-01EB-3D9F512CC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919" y="3325264"/>
            <a:ext cx="3182808" cy="32347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B1085B-C48A-848D-7C07-B46BD3C37AB0}"/>
              </a:ext>
            </a:extLst>
          </p:cNvPr>
          <p:cNvSpPr txBox="1"/>
          <p:nvPr/>
        </p:nvSpPr>
        <p:spPr>
          <a:xfrm>
            <a:off x="5654565" y="1810304"/>
            <a:ext cx="575849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code was used:</a:t>
            </a:r>
          </a:p>
          <a:p>
            <a:endParaRPr lang="en-US" dirty="0"/>
          </a:p>
          <a:p>
            <a:r>
              <a:rPr lang="en-US" dirty="0"/>
              <a:t># Replace extreme outliers in Profit with the median</a:t>
            </a:r>
          </a:p>
          <a:p>
            <a:r>
              <a:rPr lang="en-US" dirty="0"/>
              <a:t>median_profit = df['Profit'].median()</a:t>
            </a:r>
          </a:p>
          <a:p>
            <a:r>
              <a:rPr lang="en-US" dirty="0"/>
              <a:t>df['Profit'] = np.where((df['Profit'] &lt; lower_bound_profit) | </a:t>
            </a:r>
          </a:p>
          <a:p>
            <a:r>
              <a:rPr lang="en-US" dirty="0"/>
              <a:t>                        (df['Profit'] &gt; upper_bound_profit), </a:t>
            </a:r>
          </a:p>
          <a:p>
            <a:r>
              <a:rPr lang="en-US" dirty="0"/>
              <a:t>                        median_profit, </a:t>
            </a:r>
          </a:p>
          <a:p>
            <a:r>
              <a:rPr lang="en-US" dirty="0"/>
              <a:t>                        df['Profit'])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 Replace extreme outliers in Sales with the median</a:t>
            </a:r>
          </a:p>
          <a:p>
            <a:r>
              <a:rPr lang="en-US" dirty="0"/>
              <a:t>median_sales = df['Sales'].median()</a:t>
            </a:r>
          </a:p>
          <a:p>
            <a:r>
              <a:rPr lang="en-US" dirty="0"/>
              <a:t>df['Sales'] = np.where((df['Sales'] &lt; lower_bound_sales) | </a:t>
            </a:r>
          </a:p>
          <a:p>
            <a:r>
              <a:rPr lang="en-US" dirty="0"/>
              <a:t>                       (df['Sales'] &gt; upper_bound_sales), </a:t>
            </a:r>
          </a:p>
          <a:p>
            <a:r>
              <a:rPr lang="en-US" dirty="0"/>
              <a:t>                       median_sales, </a:t>
            </a:r>
          </a:p>
          <a:p>
            <a:r>
              <a:rPr lang="en-US" dirty="0"/>
              <a:t>                       df['Sales'])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453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 descr="Bar chart">
            <a:extLst>
              <a:ext uri="{FF2B5EF4-FFF2-40B4-BE49-F238E27FC236}">
                <a16:creationId xmlns:a16="http://schemas.microsoft.com/office/drawing/2014/main" id="{7D2EF942-AF13-85C2-F26F-F88C9F39A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502" y="1047665"/>
            <a:ext cx="5030386" cy="503038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745F6-D7DF-5CB7-A462-487356D2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300" dirty="0">
                <a:solidFill>
                  <a:srgbClr val="FFFFFF"/>
                </a:solidFill>
              </a:rPr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00905401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560996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81D69-A930-21C2-480E-CD1935F6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1" y="960723"/>
            <a:ext cx="4968489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Descriptive Stats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560581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4318" y="457200"/>
            <a:ext cx="5600007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95F6C6C3-5EC8-A2F8-46AA-4FD663FA0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387" y="2254102"/>
            <a:ext cx="4947221" cy="36503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Profit</a:t>
            </a:r>
            <a:r>
              <a:rPr lang="en-US" sz="1400" dirty="0">
                <a:solidFill>
                  <a:srgbClr val="FFFFFF"/>
                </a:solidFill>
              </a:rPr>
              <a:t> ranges from 28,560 to 8,161,275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Sale Price</a:t>
            </a:r>
            <a:r>
              <a:rPr lang="en-US" sz="1400" dirty="0">
                <a:solidFill>
                  <a:srgbClr val="FFFFFF"/>
                </a:solidFill>
              </a:rPr>
              <a:t> and </a:t>
            </a:r>
            <a:r>
              <a:rPr lang="en-US" sz="1400" b="1" dirty="0">
                <a:solidFill>
                  <a:srgbClr val="FFFFFF"/>
                </a:solidFill>
              </a:rPr>
              <a:t>Gross Sales</a:t>
            </a:r>
            <a:r>
              <a:rPr lang="en-US" sz="1400" dirty="0">
                <a:solidFill>
                  <a:srgbClr val="FFFFFF"/>
                </a:solidFill>
              </a:rPr>
              <a:t> exhibit high variability, with maximum values significantly exceeding the 75th percentile.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</a:t>
            </a:r>
            <a:r>
              <a:rPr lang="en-US" sz="1400" b="1" dirty="0">
                <a:solidFill>
                  <a:srgbClr val="FFFFFF"/>
                </a:solidFill>
              </a:rPr>
              <a:t>Discounts</a:t>
            </a:r>
            <a:r>
              <a:rPr lang="en-US" sz="1400" dirty="0">
                <a:solidFill>
                  <a:srgbClr val="FFFFFF"/>
                </a:solidFill>
              </a:rPr>
              <a:t> column has a median and 25th percentile of zero, suggesting that most transactions had no discounts, but the maximum value reaches 98,375.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Manufacturing Price</a:t>
            </a:r>
            <a:r>
              <a:rPr lang="en-US" sz="1400" dirty="0">
                <a:solidFill>
                  <a:srgbClr val="FFFFFF"/>
                </a:solidFill>
              </a:rPr>
              <a:t> varies between 300 and 26,000, highlighting significant differences across products.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</a:t>
            </a:r>
            <a:r>
              <a:rPr lang="en-US" sz="1400" b="1" dirty="0">
                <a:solidFill>
                  <a:srgbClr val="FFFFFF"/>
                </a:solidFill>
              </a:rPr>
              <a:t>count</a:t>
            </a:r>
            <a:r>
              <a:rPr lang="en-US" sz="1400" dirty="0">
                <a:solidFill>
                  <a:srgbClr val="FFFFFF"/>
                </a:solidFill>
              </a:rPr>
              <a:t> confirms 695 non-null entries for all variables, leaving 5 missing values in some columns.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This analysis reveals variability and potential outliers, emphasizing the need for careful handling during analysis.</a:t>
            </a:r>
          </a:p>
          <a:p>
            <a:pPr>
              <a:lnSpc>
                <a:spcPct val="90000"/>
              </a:lnSpc>
            </a:pPr>
            <a:endParaRPr lang="en-US" sz="14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 descr="A table with numbers and a few minutes&#10;&#10;Description automatically generated with medium confidence">
            <a:extLst>
              <a:ext uri="{FF2B5EF4-FFF2-40B4-BE49-F238E27FC236}">
                <a16:creationId xmlns:a16="http://schemas.microsoft.com/office/drawing/2014/main" id="{DD78AA91-C0CE-006F-BF2E-B2C1D3F3D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084" y="2616393"/>
            <a:ext cx="4952475" cy="163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27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22E80-FCDA-2834-482A-739CCD3D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06E80FF-5363-4EBB-97FF-C84D9EA35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1"/>
            <a:ext cx="12191999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19E46E-5263-4C6C-A732-9633475D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38174"/>
            <a:ext cx="3705323" cy="5762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6419B-A03D-E775-331E-3800A2D3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Categorical Varibales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3E0626-6A9F-400F-9C6C-BDED16912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47DC32-8EA1-434F-BB8A-E6CDA90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12DDC2-F706-47ED-B95F-79213E2D0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AE0A1E-0F18-4974-802F-0E6AE1F5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1923" y="654222"/>
            <a:ext cx="3702878" cy="243784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921AAA7E-3EB0-21AA-2AAC-C3F61F1DA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795" y="780711"/>
            <a:ext cx="3129930" cy="2167476"/>
          </a:xfrm>
          <a:prstGeom prst="rect">
            <a:avLst/>
          </a:prstGeom>
        </p:spPr>
      </p:pic>
      <p:pic>
        <p:nvPicPr>
          <p:cNvPr id="7" name="Picture 6" descr="A graph of blue bars&#10;&#10;Description automatically generated with medium confidence">
            <a:extLst>
              <a:ext uri="{FF2B5EF4-FFF2-40B4-BE49-F238E27FC236}">
                <a16:creationId xmlns:a16="http://schemas.microsoft.com/office/drawing/2014/main" id="{99F1CB1A-AD1A-C5B6-37FA-E5695BEE6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269" y="798102"/>
            <a:ext cx="3173557" cy="215008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372E1CD-CBE8-4674-A9FE-54B4AC85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6239" y="654222"/>
            <a:ext cx="3702878" cy="243784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88E8C-19D3-A98A-E6D0-CE6A85DEB279}"/>
              </a:ext>
            </a:extLst>
          </p:cNvPr>
          <p:cNvSpPr txBox="1"/>
          <p:nvPr/>
        </p:nvSpPr>
        <p:spPr>
          <a:xfrm>
            <a:off x="4561870" y="3425295"/>
            <a:ext cx="6864154" cy="2800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b="1" dirty="0">
                <a:solidFill>
                  <a:schemeClr val="tx2"/>
                </a:solidFill>
              </a:rPr>
              <a:t>Segment Distribution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The bar chart indicates that the </a:t>
            </a:r>
            <a:r>
              <a:rPr lang="en-US" b="1" dirty="0">
                <a:solidFill>
                  <a:schemeClr val="tx2"/>
                </a:solidFill>
              </a:rPr>
              <a:t>Government segment</a:t>
            </a:r>
            <a:r>
              <a:rPr lang="en-US" dirty="0">
                <a:solidFill>
                  <a:schemeClr val="tx2"/>
                </a:solidFill>
              </a:rPr>
              <a:t> dominates the dataset, accounting for nearly 300 entries.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Other segments, such as </a:t>
            </a:r>
            <a:r>
              <a:rPr lang="en-US" b="1" dirty="0">
                <a:solidFill>
                  <a:schemeClr val="tx2"/>
                </a:solidFill>
              </a:rPr>
              <a:t>Midmarket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b="1" dirty="0">
                <a:solidFill>
                  <a:schemeClr val="tx2"/>
                </a:solidFill>
              </a:rPr>
              <a:t>Channel Partners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b="1" dirty="0">
                <a:solidFill>
                  <a:schemeClr val="tx2"/>
                </a:solidFill>
              </a:rPr>
              <a:t>Enterprise</a:t>
            </a:r>
            <a:r>
              <a:rPr lang="en-US" dirty="0">
                <a:solidFill>
                  <a:schemeClr val="tx2"/>
                </a:solidFill>
              </a:rPr>
              <a:t>, and </a:t>
            </a:r>
            <a:r>
              <a:rPr lang="en-US" b="1" dirty="0">
                <a:solidFill>
                  <a:schemeClr val="tx2"/>
                </a:solidFill>
              </a:rPr>
              <a:t>Small Business</a:t>
            </a:r>
            <a:r>
              <a:rPr lang="en-US" dirty="0">
                <a:solidFill>
                  <a:schemeClr val="tx2"/>
                </a:solidFill>
              </a:rPr>
              <a:t>, are evenly distributed, with approximately 100 entries each.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/>
              <a:t>The grouped bar chart compares segment distributions across countries.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290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06E80FF-5363-4EBB-97FF-C84D9EA35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1"/>
            <a:ext cx="12191999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19E46E-5263-4C6C-A732-9633475D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38174"/>
            <a:ext cx="3705323" cy="5762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D8983-DFE2-DB46-CBA0-3C136721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Profit  v/s Units sold &amp; Gorss Sales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3E0626-6A9F-400F-9C6C-BDED16912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947DC32-8EA1-434F-BB8A-E6CDA90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12DDC2-F706-47ED-B95F-79213E2D0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AE0A1E-0F18-4974-802F-0E6AE1F5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1923" y="654222"/>
            <a:ext cx="3702878" cy="243784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 descr="A graph of blue dots&#10;&#10;Description automatically generated">
            <a:extLst>
              <a:ext uri="{FF2B5EF4-FFF2-40B4-BE49-F238E27FC236}">
                <a16:creationId xmlns:a16="http://schemas.microsoft.com/office/drawing/2014/main" id="{C100A555-B9D2-4491-379B-DE76D6AB4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585" y="780711"/>
            <a:ext cx="2752350" cy="2167476"/>
          </a:xfrm>
          <a:prstGeom prst="rect">
            <a:avLst/>
          </a:prstGeom>
        </p:spPr>
      </p:pic>
      <p:pic>
        <p:nvPicPr>
          <p:cNvPr id="7" name="Picture 6" descr="A graph with blue dots&#10;&#10;Description automatically generated">
            <a:extLst>
              <a:ext uri="{FF2B5EF4-FFF2-40B4-BE49-F238E27FC236}">
                <a16:creationId xmlns:a16="http://schemas.microsoft.com/office/drawing/2014/main" id="{11DBD673-CB2E-D121-7CCA-0493010FB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850" y="798102"/>
            <a:ext cx="2838395" cy="2150084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3372E1CD-CBE8-4674-A9FE-54B4AC85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6239" y="654222"/>
            <a:ext cx="3702878" cy="243784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8E777D-9727-425A-8140-AEDBA8EF0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3425295"/>
            <a:ext cx="6864154" cy="280047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100" b="1" dirty="0"/>
              <a:t>Scatterplot: Profit vs. Units Sold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A positive relationship exists; higher units sold generally lead to higher profits.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Most data points are below 2,000 units sold and $2,000,000 in profit.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Outliers show high profits (up to $8,000,000) with relatively fewer units sold.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Variability suggests other factors like pricing or costs impact profit.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Scatterplot: Profit vs. Gross Sales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The plot shows a </a:t>
            </a:r>
            <a:r>
              <a:rPr lang="en-US" sz="1100" b="1" dirty="0"/>
              <a:t>positive trend</a:t>
            </a:r>
            <a:r>
              <a:rPr lang="en-US" sz="1100" dirty="0"/>
              <a:t>, where higher gross sales generally lead to higher profits.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Most data points are clustered below $20,000,000 in gross sales and $2,000,000 in profit.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Outliers are visible with profits exceeding $7,000,000, even at moderate gross sales.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The flat clusters suggest potential pricing or cost patterns influencing profitability independently of sales volume.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6754328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1CC0937-4B54-4AB8-9605-7DEED999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3EDEA1-97CC-41C2-BE54-EA64ACE7F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614407"/>
            <a:ext cx="750779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36B81-14BE-30A0-14B9-DBE5A56B7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850" y="702156"/>
            <a:ext cx="7208958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Correlations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26A5DB-A90A-4941-81F5-DF0E44A29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1" y="641102"/>
            <a:ext cx="3695019" cy="28270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screenshot of a computer&#10;&#10;Description automatically generated">
            <a:extLst>
              <a:ext uri="{FF2B5EF4-FFF2-40B4-BE49-F238E27FC236}">
                <a16:creationId xmlns:a16="http://schemas.microsoft.com/office/drawing/2014/main" id="{ED32696D-0ABF-A437-62AC-F0CDC96DD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70" y="1558120"/>
            <a:ext cx="3032063" cy="993000"/>
          </a:xfrm>
          <a:prstGeom prst="rect">
            <a:avLst/>
          </a:prstGeom>
        </p:spPr>
      </p:pic>
      <p:pic>
        <p:nvPicPr>
          <p:cNvPr id="19" name="Content Placeholder 18" descr="A chart with numbers and a number of sales&#10;&#10;Description automatically generated with medium confidence">
            <a:extLst>
              <a:ext uri="{FF2B5EF4-FFF2-40B4-BE49-F238E27FC236}">
                <a16:creationId xmlns:a16="http://schemas.microsoft.com/office/drawing/2014/main" id="{A8E45750-3C9A-424F-858D-FCCBD8826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76" y="3881184"/>
            <a:ext cx="2758850" cy="218638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B1B71B9-532D-4BBD-BEBA-D028ACC08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134" y="3557674"/>
            <a:ext cx="3695019" cy="28270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BBD90F50-D57C-D6E3-54FD-93653B43E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849" y="2180496"/>
            <a:ext cx="7208957" cy="4045683"/>
          </a:xfrm>
        </p:spPr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Profit Drivers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Positively correlated with:</a:t>
            </a:r>
          </a:p>
          <a:p>
            <a:pPr marL="914400" lvl="2" indent="0">
              <a:buNone/>
            </a:pPr>
            <a:r>
              <a:rPr lang="en-US" dirty="0"/>
              <a:t>Sale Price (0.54)</a:t>
            </a:r>
          </a:p>
          <a:p>
            <a:pPr marL="914400" lvl="2" indent="0">
              <a:buNone/>
            </a:pPr>
            <a:r>
              <a:rPr lang="en-US" dirty="0"/>
              <a:t>Gross Sales (0.46)</a:t>
            </a:r>
          </a:p>
          <a:p>
            <a:pPr marL="914400" lvl="2" indent="0">
              <a:buNone/>
            </a:pPr>
            <a:r>
              <a:rPr lang="en-US" dirty="0"/>
              <a:t> Sales (0.48)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Weak correlation with Units Sold (0.17).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Negatively correlated with Discounts (-0.26).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Revenue Relationships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Gross Sales strongly correlated with: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COGS (0.99)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Sales (0.93).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Discount Impact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Discounts negatively affect: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Sale Price (-0.33)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Profit (-0.26).</a:t>
            </a:r>
          </a:p>
          <a:p>
            <a:r>
              <a:rPr lang="en-US" dirty="0"/>
              <a:t>These correlations highlight the importance of pricing strategies and controlling discounts to maximize profitability.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22539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A81853-BCE1-4B7C-922E-A502B7B5F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A53F3F5-328C-4AC3-B3C4-6A9D4C3D3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51D53-EECA-85BB-441A-67A6AB44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830" y="863695"/>
            <a:ext cx="7498617" cy="49471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Predictive modeling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8C0B53-F62B-4C6C-948D-0F3A70C42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44729"/>
            <a:ext cx="3703320" cy="57458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ECACBD-42EC-44A4-B0DE-2DEDB73E1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BB5757-5277-4AC5-8E2C-46B13387B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3643"/>
            <a:ext cx="7503637" cy="9499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0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2439A-E24A-B464-72FC-5EE94D0C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E2A52-A602-5382-B868-637C8B94B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</a:t>
            </a:r>
            <a:r>
              <a:rPr lang="en-US" dirty="0"/>
              <a:t>: This model assumes a straight-line relationship between features (like Units Sold and Sale Price) and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 Struggles to accurately predict Profit due to the complexity of interactions between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For a sale with high Units Sold but a low Sale Price, it might overestimate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Result</a:t>
            </a:r>
            <a:r>
              <a:rPr lang="en-US" dirty="0"/>
              <a:t>: Largest errors ($1.6M), showing it’s unable to capture non-linear patterns in the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6860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3072-D7C6-CDCD-37AE-5CAA3EC4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Decision Tree Regression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C0D56E-1677-5E80-D6B5-6029682FA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257089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057600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AC6A7-E735-1C65-4DE7-54CC29C1E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FFFFFF"/>
                </a:solidFill>
              </a:rPr>
              <a:t>Hyperparameter tuned DTR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ACC4861-5035-9CE7-0665-AB5CBB8D1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Objective</a:t>
            </a:r>
            <a:r>
              <a:rPr lang="en-US" sz="1500"/>
              <a:t>: Optimize the performance of a Decision Tree Regressor for better predictions.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Method</a:t>
            </a:r>
            <a:r>
              <a:rPr lang="en-US" sz="1500"/>
              <a:t>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Defined hyperparameter grid:</a:t>
            </a:r>
          </a:p>
          <a:p>
            <a:pPr marL="114300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err="1"/>
              <a:t>max_depth</a:t>
            </a:r>
            <a:r>
              <a:rPr lang="en-US" sz="1500"/>
              <a:t>: [8, 9]</a:t>
            </a:r>
          </a:p>
          <a:p>
            <a:pPr marL="114300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err="1"/>
              <a:t>min_samples_leaf</a:t>
            </a:r>
            <a:r>
              <a:rPr lang="en-US" sz="1500"/>
              <a:t>: [2, 5, 10, 20, 25]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Used </a:t>
            </a:r>
            <a:r>
              <a:rPr lang="en-US" sz="1500" b="1" err="1"/>
              <a:t>GridSearchCV</a:t>
            </a:r>
            <a:r>
              <a:rPr lang="en-US" sz="1500"/>
              <a:t> to test combinations.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Results</a:t>
            </a:r>
            <a:r>
              <a:rPr lang="en-US" sz="1500"/>
              <a:t>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Best Parameters:</a:t>
            </a:r>
          </a:p>
          <a:p>
            <a:pPr marL="114300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err="1"/>
              <a:t>max_depth</a:t>
            </a:r>
            <a:r>
              <a:rPr lang="en-US" sz="1500"/>
              <a:t>: [Best Value Found]</a:t>
            </a:r>
          </a:p>
          <a:p>
            <a:pPr marL="114300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err="1"/>
              <a:t>min_samples_leaf</a:t>
            </a:r>
            <a:r>
              <a:rPr lang="en-US" sz="1500"/>
              <a:t>: [Best Value Found]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Improved Accuracy: [Insert Metrics]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Key Takeaway</a:t>
            </a:r>
            <a:r>
              <a:rPr lang="en-US" sz="1500"/>
              <a:t>: Hyperparameter tuning reduces overfitting and enhances model stability.</a:t>
            </a:r>
          </a:p>
          <a:p>
            <a:pPr>
              <a:lnSpc>
                <a:spcPct val="9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23808285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1DE2-14EA-8730-0692-32AFC6A17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K-Nearest Neighbors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107B2A-E1A3-5C77-FFEB-93E55E7C1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321567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15205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209EA6-FB9C-4E80-9B63-3BC4C0628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D98868-D6DC-40C4-A67A-26D3EF9B9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614407"/>
            <a:ext cx="750779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BB5F6-3CDA-C88E-B591-1D864F8E7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850" y="702156"/>
            <a:ext cx="7208958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Profit Predictions: What the Models Tell Us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45597E-AF81-4397-A735-3DE1D96E8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EC0180-A18F-4E78-AFAC-B3659BB79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DAF487-E053-4DEB-8D83-094FEDB5F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B89CFB-6047-4883-B0F7-85F750221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Graphic 6" descr="Bar Graph with Upward Trend">
            <a:extLst>
              <a:ext uri="{FF2B5EF4-FFF2-40B4-BE49-F238E27FC236}">
                <a16:creationId xmlns:a16="http://schemas.microsoft.com/office/drawing/2014/main" id="{1FF03EA3-455D-D0A1-B2AC-6AAC62CD7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491" y="1904834"/>
            <a:ext cx="3036818" cy="303681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36AEA-7FE9-53B8-60E6-309E66A3A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849" y="2180496"/>
            <a:ext cx="7208957" cy="40456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b="1" dirty="0"/>
              <a:t>Profit Drivers</a:t>
            </a:r>
            <a:r>
              <a:rPr lang="en-US" sz="1500" dirty="0"/>
              <a:t>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Sale Price</a:t>
            </a:r>
            <a:r>
              <a:rPr lang="en-US" sz="1500" dirty="0"/>
              <a:t>: The higher the Sale Price, the more likely profits increase. For example: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 $500 increase in Sale Price might result in a $250,000 boost in Profit.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Units Sold</a:t>
            </a:r>
            <a:r>
              <a:rPr lang="en-US" sz="1500" dirty="0"/>
              <a:t>: Larger sales volumes significantly impact Profit, but only when costs are managed.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Selling an extra 10,000 units can add $1M to profits under the right conditions.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Cost of Goods Sold (COGS)</a:t>
            </a:r>
            <a:r>
              <a:rPr lang="en-US" sz="1500" dirty="0"/>
              <a:t>: Reducing costs directly improves profits.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Cutting COGS by $100 per unit could save $1M for large sales volumes.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Challenges in Predicting Profit</a:t>
            </a:r>
            <a:r>
              <a:rPr lang="en-US" sz="1500" dirty="0"/>
              <a:t>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The relationship between features is non-linear (e.g., a small change in Sale Price has a big impact on high sales volumes but little on low volumes).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Outliers like exceptionally high or low profits skew simpler models (like Linear Regression).</a:t>
            </a:r>
          </a:p>
        </p:txBody>
      </p:sp>
    </p:spTree>
    <p:extLst>
      <p:ext uri="{BB962C8B-B14F-4D97-AF65-F5344CB8AC3E}">
        <p14:creationId xmlns:p14="http://schemas.microsoft.com/office/powerpoint/2010/main" val="9623025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7F83E-0236-FFB3-94C3-BC432392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Conclusion	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72E9AC-3D00-6C94-4F55-D10A1BDFE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b="1"/>
              <a:t>Best Performing Model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Hyper-Tuned Decision Tree Regressor,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Reason for Best Performance</a:t>
            </a:r>
            <a:r>
              <a:rPr lang="en-US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Achieved the highest accuracy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Lowest error metrics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Balanced bias-variance tradeoff effectively.</a:t>
            </a:r>
          </a:p>
          <a:p>
            <a:r>
              <a:rPr lang="en-US" b="1"/>
              <a:t>Key Insights</a:t>
            </a:r>
            <a:r>
              <a:rPr lang="en-US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Hyperparameter tuning significantly improved model performance.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12059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5A40C-A419-4B37-42F2-C4DB840E7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1143" y="1005839"/>
            <a:ext cx="6939304" cy="480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977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354</TotalTime>
  <Words>1632</Words>
  <Application>Microsoft Macintosh PowerPoint</Application>
  <PresentationFormat>Widescreen</PresentationFormat>
  <Paragraphs>157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Gill Sans MT</vt:lpstr>
      <vt:lpstr>Helvetica</vt:lpstr>
      <vt:lpstr>Wingdings 2</vt:lpstr>
      <vt:lpstr>Dividend</vt:lpstr>
      <vt:lpstr>Final Project PPT</vt:lpstr>
      <vt:lpstr>Dataset Overview</vt:lpstr>
      <vt:lpstr>Target Attribute: Profit</vt:lpstr>
      <vt:lpstr>Problems in the Data</vt:lpstr>
      <vt:lpstr>Data Cleaning </vt:lpstr>
      <vt:lpstr>Missing Values </vt:lpstr>
      <vt:lpstr>Data Mutation(Discount)</vt:lpstr>
      <vt:lpstr>Data Mutation ( Decimal points)</vt:lpstr>
      <vt:lpstr>Handling Outliers </vt:lpstr>
      <vt:lpstr>EXPLORATORY DATA ANALYSIS</vt:lpstr>
      <vt:lpstr>Descriptive Stats</vt:lpstr>
      <vt:lpstr>Categorical Varibales </vt:lpstr>
      <vt:lpstr>Profit  v/s Units sold &amp; Gorss Sales</vt:lpstr>
      <vt:lpstr>Correlations </vt:lpstr>
      <vt:lpstr>Predictive modeling</vt:lpstr>
      <vt:lpstr>Linear Regression </vt:lpstr>
      <vt:lpstr>Decision Tree Regression </vt:lpstr>
      <vt:lpstr>Hyperparameter tuned DTR</vt:lpstr>
      <vt:lpstr>K-Nearest Neighbors </vt:lpstr>
      <vt:lpstr>Profit Predictions: What the Models Tell Us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Khanna</dc:creator>
  <cp:lastModifiedBy>Dhruv Khanna</cp:lastModifiedBy>
  <cp:revision>3</cp:revision>
  <dcterms:created xsi:type="dcterms:W3CDTF">2024-12-08T19:04:46Z</dcterms:created>
  <dcterms:modified xsi:type="dcterms:W3CDTF">2024-12-09T00:59:16Z</dcterms:modified>
</cp:coreProperties>
</file>